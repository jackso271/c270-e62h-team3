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omments/modernComment_102_4161B760.xml" ContentType="application/vnd.ms-powerpoint.comments+xml"/>
  <Override PartName="/ppt/notesSlides/notesSlide1.xml" ContentType="application/vnd.openxmlformats-officedocument.presentationml.notesSlide+xml"/>
  <Override PartName="/ppt/comments/modernComment_103_2868FA39.xml" ContentType="application/vnd.ms-powerpoint.comments+xml"/>
  <Override PartName="/ppt/comments/modernComment_106_AFDEA664.xml" ContentType="application/vnd.ms-powerpoint.comments+xml"/>
  <Override PartName="/ppt/comments/modernComment_107_6C95553E.xml" ContentType="application/vnd.ms-powerpoint.comments+xml"/>
  <Override PartName="/ppt/comments/modernComment_109_3FB5B910.xml" ContentType="application/vnd.ms-powerpoint.comments+xml"/>
  <Override PartName="/ppt/comments/modernComment_10B_FC67EADE.xml" ContentType="application/vnd.ms-powerpoint.comments+xml"/>
  <Override PartName="/ppt/comments/modernComment_10E_C32484E3.xml" ContentType="application/vnd.ms-powerpoint.comments+xml"/>
  <Override PartName="/ppt/comments/modernComment_111_9023F5DE.xml" ContentType="application/vnd.ms-powerpoint.comments+xml"/>
  <Override PartName="/ppt/comments/modernComment_112_DD2B80E4.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notesMasterIdLst>
    <p:notesMasterId r:id="rId30"/>
  </p:notesMasterIdLst>
  <p:sldIdLst>
    <p:sldId id="256" r:id="rId2"/>
    <p:sldId id="257" r:id="rId3"/>
    <p:sldId id="258" r:id="rId4"/>
    <p:sldId id="259" r:id="rId5"/>
    <p:sldId id="260" r:id="rId6"/>
    <p:sldId id="280" r:id="rId7"/>
    <p:sldId id="281" r:id="rId8"/>
    <p:sldId id="282" r:id="rId9"/>
    <p:sldId id="261" r:id="rId10"/>
    <p:sldId id="279" r:id="rId11"/>
    <p:sldId id="262" r:id="rId12"/>
    <p:sldId id="263" r:id="rId13"/>
    <p:sldId id="264" r:id="rId14"/>
    <p:sldId id="265" r:id="rId15"/>
    <p:sldId id="266" r:id="rId16"/>
    <p:sldId id="283" r:id="rId17"/>
    <p:sldId id="267" r:id="rId18"/>
    <p:sldId id="269" r:id="rId19"/>
    <p:sldId id="268" r:id="rId20"/>
    <p:sldId id="270" r:id="rId21"/>
    <p:sldId id="271" r:id="rId22"/>
    <p:sldId id="272" r:id="rId23"/>
    <p:sldId id="273" r:id="rId24"/>
    <p:sldId id="274" r:id="rId25"/>
    <p:sldId id="275" r:id="rId26"/>
    <p:sldId id="276" r:id="rId27"/>
    <p:sldId id="277" r:id="rId28"/>
    <p:sldId id="278"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E30BF194-3ABC-5942-85EC-CD8A3DEED5BE}" name="JASON TAN WEI HAO" initials="JR" userId="S::25044459@myrp.edu.sg::159790f0-cc1d-4289-8656-ecab5123fd7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3065B8-E780-C1DD-FDC5-AB41DA821966}" v="170" dt="2026-07-13T08:42:01.83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989"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37"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SON TAN WEI HAO" userId="S::25044459@myrp.edu.sg::159790f0-cc1d-4289-8656-ecab5123fd72" providerId="AD" clId="Web-{663065B8-E780-C1DD-FDC5-AB41DA821966}"/>
    <pc:docChg chg="modSld">
      <pc:chgData name="JASON TAN WEI HAO" userId="S::25044459@myrp.edu.sg::159790f0-cc1d-4289-8656-ecab5123fd72" providerId="AD" clId="Web-{663065B8-E780-C1DD-FDC5-AB41DA821966}" dt="2026-07-13T08:42:01.839" v="93"/>
      <pc:docMkLst>
        <pc:docMk/>
      </pc:docMkLst>
      <pc:sldChg chg="addSp modSp">
        <pc:chgData name="JASON TAN WEI HAO" userId="S::25044459@myrp.edu.sg::159790f0-cc1d-4289-8656-ecab5123fd72" providerId="AD" clId="Web-{663065B8-E780-C1DD-FDC5-AB41DA821966}" dt="2026-07-13T08:35:18.113" v="21" actId="20577"/>
        <pc:sldMkLst>
          <pc:docMk/>
          <pc:sldMk cId="3433634991" sldId="257"/>
        </pc:sldMkLst>
        <pc:spChg chg="add mod">
          <ac:chgData name="JASON TAN WEI HAO" userId="S::25044459@myrp.edu.sg::159790f0-cc1d-4289-8656-ecab5123fd72" providerId="AD" clId="Web-{663065B8-E780-C1DD-FDC5-AB41DA821966}" dt="2026-07-13T08:35:18.113" v="21" actId="20577"/>
          <ac:spMkLst>
            <pc:docMk/>
            <pc:sldMk cId="3433634991" sldId="257"/>
            <ac:spMk id="17" creationId="{4584F1CB-84B0-FF11-CCD2-DD978A548587}"/>
          </ac:spMkLst>
        </pc:spChg>
      </pc:sldChg>
      <pc:sldChg chg="addSp modSp">
        <pc:chgData name="JASON TAN WEI HAO" userId="S::25044459@myrp.edu.sg::159790f0-cc1d-4289-8656-ecab5123fd72" providerId="AD" clId="Web-{663065B8-E780-C1DD-FDC5-AB41DA821966}" dt="2026-07-13T08:35:25.176" v="27" actId="20577"/>
        <pc:sldMkLst>
          <pc:docMk/>
          <pc:sldMk cId="1096922976" sldId="258"/>
        </pc:sldMkLst>
        <pc:spChg chg="add mod">
          <ac:chgData name="JASON TAN WEI HAO" userId="S::25044459@myrp.edu.sg::159790f0-cc1d-4289-8656-ecab5123fd72" providerId="AD" clId="Web-{663065B8-E780-C1DD-FDC5-AB41DA821966}" dt="2026-07-13T08:35:25.176" v="27" actId="20577"/>
          <ac:spMkLst>
            <pc:docMk/>
            <pc:sldMk cId="1096922976" sldId="258"/>
            <ac:spMk id="8" creationId="{7A0BC7AE-45E0-485D-F78B-BFF9312349D9}"/>
          </ac:spMkLst>
        </pc:spChg>
      </pc:sldChg>
      <pc:sldChg chg="addSp modSp">
        <pc:chgData name="JASON TAN WEI HAO" userId="S::25044459@myrp.edu.sg::159790f0-cc1d-4289-8656-ecab5123fd72" providerId="AD" clId="Web-{663065B8-E780-C1DD-FDC5-AB41DA821966}" dt="2026-07-13T08:36:02.648" v="33" actId="20577"/>
        <pc:sldMkLst>
          <pc:docMk/>
          <pc:sldMk cId="677968441" sldId="259"/>
        </pc:sldMkLst>
        <pc:spChg chg="add mod">
          <ac:chgData name="JASON TAN WEI HAO" userId="S::25044459@myrp.edu.sg::159790f0-cc1d-4289-8656-ecab5123fd72" providerId="AD" clId="Web-{663065B8-E780-C1DD-FDC5-AB41DA821966}" dt="2026-07-13T08:36:02.648" v="33" actId="20577"/>
          <ac:spMkLst>
            <pc:docMk/>
            <pc:sldMk cId="677968441" sldId="259"/>
            <ac:spMk id="6" creationId="{8605CF22-61ED-CC77-94AA-C4D2D50DC1EB}"/>
          </ac:spMkLst>
        </pc:spChg>
      </pc:sldChg>
      <pc:sldChg chg="addSp">
        <pc:chgData name="JASON TAN WEI HAO" userId="S::25044459@myrp.edu.sg::159790f0-cc1d-4289-8656-ecab5123fd72" providerId="AD" clId="Web-{663065B8-E780-C1DD-FDC5-AB41DA821966}" dt="2026-07-13T08:31:44.807" v="15"/>
        <pc:sldMkLst>
          <pc:docMk/>
          <pc:sldMk cId="654478275" sldId="260"/>
        </pc:sldMkLst>
        <pc:spChg chg="add">
          <ac:chgData name="JASON TAN WEI HAO" userId="S::25044459@myrp.edu.sg::159790f0-cc1d-4289-8656-ecab5123fd72" providerId="AD" clId="Web-{663065B8-E780-C1DD-FDC5-AB41DA821966}" dt="2026-07-13T08:31:44.807" v="15"/>
          <ac:spMkLst>
            <pc:docMk/>
            <pc:sldMk cId="654478275" sldId="260"/>
            <ac:spMk id="6" creationId="{A9F408B0-8C02-7B83-1FDF-E6F0E485C8E3}"/>
          </ac:spMkLst>
        </pc:spChg>
      </pc:sldChg>
      <pc:sldChg chg="addSp">
        <pc:chgData name="JASON TAN WEI HAO" userId="S::25044459@myrp.edu.sg::159790f0-cc1d-4289-8656-ecab5123fd72" providerId="AD" clId="Web-{663065B8-E780-C1DD-FDC5-AB41DA821966}" dt="2026-07-13T08:36:16.432" v="34"/>
        <pc:sldMkLst>
          <pc:docMk/>
          <pc:sldMk cId="2950604388" sldId="262"/>
        </pc:sldMkLst>
        <pc:spChg chg="add">
          <ac:chgData name="JASON TAN WEI HAO" userId="S::25044459@myrp.edu.sg::159790f0-cc1d-4289-8656-ecab5123fd72" providerId="AD" clId="Web-{663065B8-E780-C1DD-FDC5-AB41DA821966}" dt="2026-07-13T08:36:16.432" v="34"/>
          <ac:spMkLst>
            <pc:docMk/>
            <pc:sldMk cId="2950604388" sldId="262"/>
            <ac:spMk id="3" creationId="{3A66DB21-6101-D3E0-2E92-3057BEC8B826}"/>
          </ac:spMkLst>
        </pc:spChg>
      </pc:sldChg>
      <pc:sldChg chg="addSp modSp">
        <pc:chgData name="JASON TAN WEI HAO" userId="S::25044459@myrp.edu.sg::159790f0-cc1d-4289-8656-ecab5123fd72" providerId="AD" clId="Web-{663065B8-E780-C1DD-FDC5-AB41DA821966}" dt="2026-07-13T08:36:58.470" v="42" actId="20577"/>
        <pc:sldMkLst>
          <pc:docMk/>
          <pc:sldMk cId="1821726014" sldId="263"/>
        </pc:sldMkLst>
        <pc:spChg chg="add mod">
          <ac:chgData name="JASON TAN WEI HAO" userId="S::25044459@myrp.edu.sg::159790f0-cc1d-4289-8656-ecab5123fd72" providerId="AD" clId="Web-{663065B8-E780-C1DD-FDC5-AB41DA821966}" dt="2026-07-13T08:36:58.470" v="42" actId="20577"/>
          <ac:spMkLst>
            <pc:docMk/>
            <pc:sldMk cId="1821726014" sldId="263"/>
            <ac:spMk id="7" creationId="{84BFE1E6-6F80-6E52-2CA2-778A378A297C}"/>
          </ac:spMkLst>
        </pc:spChg>
      </pc:sldChg>
      <pc:sldChg chg="addSp">
        <pc:chgData name="JASON TAN WEI HAO" userId="S::25044459@myrp.edu.sg::159790f0-cc1d-4289-8656-ecab5123fd72" providerId="AD" clId="Web-{663065B8-E780-C1DD-FDC5-AB41DA821966}" dt="2026-07-13T08:37:07.143" v="43"/>
        <pc:sldMkLst>
          <pc:docMk/>
          <pc:sldMk cId="1177013299" sldId="264"/>
        </pc:sldMkLst>
        <pc:spChg chg="add">
          <ac:chgData name="JASON TAN WEI HAO" userId="S::25044459@myrp.edu.sg::159790f0-cc1d-4289-8656-ecab5123fd72" providerId="AD" clId="Web-{663065B8-E780-C1DD-FDC5-AB41DA821966}" dt="2026-07-13T08:37:07.143" v="43"/>
          <ac:spMkLst>
            <pc:docMk/>
            <pc:sldMk cId="1177013299" sldId="264"/>
            <ac:spMk id="4" creationId="{AE90D97B-7D4C-BE8C-87D7-61648C8DD4AC}"/>
          </ac:spMkLst>
        </pc:spChg>
      </pc:sldChg>
      <pc:sldChg chg="addSp">
        <pc:chgData name="JASON TAN WEI HAO" userId="S::25044459@myrp.edu.sg::159790f0-cc1d-4289-8656-ecab5123fd72" providerId="AD" clId="Web-{663065B8-E780-C1DD-FDC5-AB41DA821966}" dt="2026-07-13T08:31:15.259" v="11"/>
        <pc:sldMkLst>
          <pc:docMk/>
          <pc:sldMk cId="1068874000" sldId="265"/>
        </pc:sldMkLst>
        <pc:spChg chg="add">
          <ac:chgData name="JASON TAN WEI HAO" userId="S::25044459@myrp.edu.sg::159790f0-cc1d-4289-8656-ecab5123fd72" providerId="AD" clId="Web-{663065B8-E780-C1DD-FDC5-AB41DA821966}" dt="2026-07-13T08:31:15.259" v="11"/>
          <ac:spMkLst>
            <pc:docMk/>
            <pc:sldMk cId="1068874000" sldId="265"/>
            <ac:spMk id="5" creationId="{3F849083-6494-D808-3CEF-DBE645274FA2}"/>
          </ac:spMkLst>
        </pc:spChg>
      </pc:sldChg>
      <pc:sldChg chg="addSp">
        <pc:chgData name="JASON TAN WEI HAO" userId="S::25044459@myrp.edu.sg::159790f0-cc1d-4289-8656-ecab5123fd72" providerId="AD" clId="Web-{663065B8-E780-C1DD-FDC5-AB41DA821966}" dt="2026-07-13T08:31:03.243" v="10"/>
        <pc:sldMkLst>
          <pc:docMk/>
          <pc:sldMk cId="4052950194" sldId="266"/>
        </pc:sldMkLst>
        <pc:spChg chg="add">
          <ac:chgData name="JASON TAN WEI HAO" userId="S::25044459@myrp.edu.sg::159790f0-cc1d-4289-8656-ecab5123fd72" providerId="AD" clId="Web-{663065B8-E780-C1DD-FDC5-AB41DA821966}" dt="2026-07-13T08:31:03.243" v="10"/>
          <ac:spMkLst>
            <pc:docMk/>
            <pc:sldMk cId="4052950194" sldId="266"/>
            <ac:spMk id="4" creationId="{5DC8FDCC-F11E-A458-EB8D-A60A9F26A8D7}"/>
          </ac:spMkLst>
        </pc:spChg>
      </pc:sldChg>
      <pc:sldChg chg="addSp modSp">
        <pc:chgData name="JASON TAN WEI HAO" userId="S::25044459@myrp.edu.sg::159790f0-cc1d-4289-8656-ecab5123fd72" providerId="AD" clId="Web-{663065B8-E780-C1DD-FDC5-AB41DA821966}" dt="2026-07-13T08:41:00.319" v="76" actId="20577"/>
        <pc:sldMkLst>
          <pc:docMk/>
          <pc:sldMk cId="4234668766" sldId="267"/>
        </pc:sldMkLst>
        <pc:spChg chg="add mod">
          <ac:chgData name="JASON TAN WEI HAO" userId="S::25044459@myrp.edu.sg::159790f0-cc1d-4289-8656-ecab5123fd72" providerId="AD" clId="Web-{663065B8-E780-C1DD-FDC5-AB41DA821966}" dt="2026-07-13T08:41:00.319" v="76" actId="20577"/>
          <ac:spMkLst>
            <pc:docMk/>
            <pc:sldMk cId="4234668766" sldId="267"/>
            <ac:spMk id="3" creationId="{3A3A37BD-3144-C054-43AA-A2E4CBBC4D4B}"/>
          </ac:spMkLst>
        </pc:spChg>
      </pc:sldChg>
      <pc:sldChg chg="addSp modSp">
        <pc:chgData name="JASON TAN WEI HAO" userId="S::25044459@myrp.edu.sg::159790f0-cc1d-4289-8656-ecab5123fd72" providerId="AD" clId="Web-{663065B8-E780-C1DD-FDC5-AB41DA821966}" dt="2026-07-13T08:37:47.585" v="49" actId="20577"/>
        <pc:sldMkLst>
          <pc:docMk/>
          <pc:sldMk cId="3273950435" sldId="270"/>
        </pc:sldMkLst>
        <pc:spChg chg="add mod">
          <ac:chgData name="JASON TAN WEI HAO" userId="S::25044459@myrp.edu.sg::159790f0-cc1d-4289-8656-ecab5123fd72" providerId="AD" clId="Web-{663065B8-E780-C1DD-FDC5-AB41DA821966}" dt="2026-07-13T08:37:47.585" v="49" actId="20577"/>
          <ac:spMkLst>
            <pc:docMk/>
            <pc:sldMk cId="3273950435" sldId="270"/>
            <ac:spMk id="3" creationId="{758E5A8F-B6F0-86C7-7E7F-2098B7B1D869}"/>
          </ac:spMkLst>
        </pc:spChg>
      </pc:sldChg>
      <pc:sldChg chg="addSp modSp">
        <pc:chgData name="JASON TAN WEI HAO" userId="S::25044459@myrp.edu.sg::159790f0-cc1d-4289-8656-ecab5123fd72" providerId="AD" clId="Web-{663065B8-E780-C1DD-FDC5-AB41DA821966}" dt="2026-07-13T08:38:01.571" v="56" actId="20577"/>
        <pc:sldMkLst>
          <pc:docMk/>
          <pc:sldMk cId="1371577399" sldId="271"/>
        </pc:sldMkLst>
        <pc:spChg chg="add mod">
          <ac:chgData name="JASON TAN WEI HAO" userId="S::25044459@myrp.edu.sg::159790f0-cc1d-4289-8656-ecab5123fd72" providerId="AD" clId="Web-{663065B8-E780-C1DD-FDC5-AB41DA821966}" dt="2026-07-13T08:38:01.571" v="56" actId="20577"/>
          <ac:spMkLst>
            <pc:docMk/>
            <pc:sldMk cId="1371577399" sldId="271"/>
            <ac:spMk id="4" creationId="{8B6C4163-51E5-3B94-7F42-A60A36B992CC}"/>
          </ac:spMkLst>
        </pc:spChg>
      </pc:sldChg>
      <pc:sldChg chg="addSp modSp">
        <pc:chgData name="JASON TAN WEI HAO" userId="S::25044459@myrp.edu.sg::159790f0-cc1d-4289-8656-ecab5123fd72" providerId="AD" clId="Web-{663065B8-E780-C1DD-FDC5-AB41DA821966}" dt="2026-07-13T08:38:35.057" v="62" actId="20577"/>
        <pc:sldMkLst>
          <pc:docMk/>
          <pc:sldMk cId="2682159186" sldId="272"/>
        </pc:sldMkLst>
        <pc:spChg chg="add mod">
          <ac:chgData name="JASON TAN WEI HAO" userId="S::25044459@myrp.edu.sg::159790f0-cc1d-4289-8656-ecab5123fd72" providerId="AD" clId="Web-{663065B8-E780-C1DD-FDC5-AB41DA821966}" dt="2026-07-13T08:38:35.057" v="62" actId="20577"/>
          <ac:spMkLst>
            <pc:docMk/>
            <pc:sldMk cId="2682159186" sldId="272"/>
            <ac:spMk id="4" creationId="{30ABF14C-F6F6-0038-DFDC-A707FBF777B4}"/>
          </ac:spMkLst>
        </pc:spChg>
      </pc:sldChg>
      <pc:sldChg chg="addSp modSp">
        <pc:chgData name="JASON TAN WEI HAO" userId="S::25044459@myrp.edu.sg::159790f0-cc1d-4289-8656-ecab5123fd72" providerId="AD" clId="Web-{663065B8-E780-C1DD-FDC5-AB41DA821966}" dt="2026-07-13T08:40:01.737" v="70" actId="20577"/>
        <pc:sldMkLst>
          <pc:docMk/>
          <pc:sldMk cId="2418275806" sldId="273"/>
        </pc:sldMkLst>
        <pc:spChg chg="add mod">
          <ac:chgData name="JASON TAN WEI HAO" userId="S::25044459@myrp.edu.sg::159790f0-cc1d-4289-8656-ecab5123fd72" providerId="AD" clId="Web-{663065B8-E780-C1DD-FDC5-AB41DA821966}" dt="2026-07-13T08:40:01.737" v="70" actId="20577"/>
          <ac:spMkLst>
            <pc:docMk/>
            <pc:sldMk cId="2418275806" sldId="273"/>
            <ac:spMk id="3" creationId="{A2FE81B5-049B-CEF2-A7F8-7D95C7FA0B0C}"/>
          </ac:spMkLst>
        </pc:spChg>
      </pc:sldChg>
      <pc:sldChg chg="addSp modSp">
        <pc:chgData name="JASON TAN WEI HAO" userId="S::25044459@myrp.edu.sg::159790f0-cc1d-4289-8656-ecab5123fd72" providerId="AD" clId="Web-{663065B8-E780-C1DD-FDC5-AB41DA821966}" dt="2026-07-13T08:41:32.587" v="81" actId="20577"/>
        <pc:sldMkLst>
          <pc:docMk/>
          <pc:sldMk cId="3710615780" sldId="274"/>
        </pc:sldMkLst>
        <pc:spChg chg="add mod">
          <ac:chgData name="JASON TAN WEI HAO" userId="S::25044459@myrp.edu.sg::159790f0-cc1d-4289-8656-ecab5123fd72" providerId="AD" clId="Web-{663065B8-E780-C1DD-FDC5-AB41DA821966}" dt="2026-07-13T08:41:32.587" v="81" actId="20577"/>
          <ac:spMkLst>
            <pc:docMk/>
            <pc:sldMk cId="3710615780" sldId="274"/>
            <ac:spMk id="3" creationId="{873737EC-B4A7-46E5-12D4-C392EA5190FF}"/>
          </ac:spMkLst>
        </pc:spChg>
      </pc:sldChg>
      <pc:sldChg chg="addSp modSp">
        <pc:chgData name="JASON TAN WEI HAO" userId="S::25044459@myrp.edu.sg::159790f0-cc1d-4289-8656-ecab5123fd72" providerId="AD" clId="Web-{663065B8-E780-C1DD-FDC5-AB41DA821966}" dt="2026-07-13T08:41:42.947" v="87" actId="20577"/>
        <pc:sldMkLst>
          <pc:docMk/>
          <pc:sldMk cId="2741484557" sldId="275"/>
        </pc:sldMkLst>
        <pc:spChg chg="add mod">
          <ac:chgData name="JASON TAN WEI HAO" userId="S::25044459@myrp.edu.sg::159790f0-cc1d-4289-8656-ecab5123fd72" providerId="AD" clId="Web-{663065B8-E780-C1DD-FDC5-AB41DA821966}" dt="2026-07-13T08:41:42.947" v="87" actId="20577"/>
          <ac:spMkLst>
            <pc:docMk/>
            <pc:sldMk cId="2741484557" sldId="275"/>
            <ac:spMk id="4" creationId="{4994B7D9-0A4C-8A54-B14C-D4DFF08E9BB8}"/>
          </ac:spMkLst>
        </pc:spChg>
      </pc:sldChg>
      <pc:sldChg chg="addSp modSp">
        <pc:chgData name="JASON TAN WEI HAO" userId="S::25044459@myrp.edu.sg::159790f0-cc1d-4289-8656-ecab5123fd72" providerId="AD" clId="Web-{663065B8-E780-C1DD-FDC5-AB41DA821966}" dt="2026-07-13T08:41:52.432" v="92" actId="20577"/>
        <pc:sldMkLst>
          <pc:docMk/>
          <pc:sldMk cId="334311937" sldId="276"/>
        </pc:sldMkLst>
        <pc:spChg chg="add mod">
          <ac:chgData name="JASON TAN WEI HAO" userId="S::25044459@myrp.edu.sg::159790f0-cc1d-4289-8656-ecab5123fd72" providerId="AD" clId="Web-{663065B8-E780-C1DD-FDC5-AB41DA821966}" dt="2026-07-13T08:41:52.432" v="92" actId="20577"/>
          <ac:spMkLst>
            <pc:docMk/>
            <pc:sldMk cId="334311937" sldId="276"/>
            <ac:spMk id="5" creationId="{C3E5642D-A56F-F0B8-CAD8-A59C1005E74E}"/>
          </ac:spMkLst>
        </pc:spChg>
      </pc:sldChg>
      <pc:sldChg chg="addSp">
        <pc:chgData name="JASON TAN WEI HAO" userId="S::25044459@myrp.edu.sg::159790f0-cc1d-4289-8656-ecab5123fd72" providerId="AD" clId="Web-{663065B8-E780-C1DD-FDC5-AB41DA821966}" dt="2026-07-13T08:42:01.839" v="93"/>
        <pc:sldMkLst>
          <pc:docMk/>
          <pc:sldMk cId="2022240482" sldId="277"/>
        </pc:sldMkLst>
        <pc:spChg chg="add">
          <ac:chgData name="JASON TAN WEI HAO" userId="S::25044459@myrp.edu.sg::159790f0-cc1d-4289-8656-ecab5123fd72" providerId="AD" clId="Web-{663065B8-E780-C1DD-FDC5-AB41DA821966}" dt="2026-07-13T08:42:01.839" v="93"/>
          <ac:spMkLst>
            <pc:docMk/>
            <pc:sldMk cId="2022240482" sldId="277"/>
            <ac:spMk id="3" creationId="{67AA3E9B-62ED-10EC-F64B-0EDA35FDEC8D}"/>
          </ac:spMkLst>
        </pc:spChg>
      </pc:sldChg>
      <pc:sldChg chg="addSp">
        <pc:chgData name="JASON TAN WEI HAO" userId="S::25044459@myrp.edu.sg::159790f0-cc1d-4289-8656-ecab5123fd72" providerId="AD" clId="Web-{663065B8-E780-C1DD-FDC5-AB41DA821966}" dt="2026-07-13T08:31:50.714" v="16"/>
        <pc:sldMkLst>
          <pc:docMk/>
          <pc:sldMk cId="35946314" sldId="279"/>
        </pc:sldMkLst>
        <pc:spChg chg="add">
          <ac:chgData name="JASON TAN WEI HAO" userId="S::25044459@myrp.edu.sg::159790f0-cc1d-4289-8656-ecab5123fd72" providerId="AD" clId="Web-{663065B8-E780-C1DD-FDC5-AB41DA821966}" dt="2026-07-13T08:31:50.714" v="16"/>
          <ac:spMkLst>
            <pc:docMk/>
            <pc:sldMk cId="35946314" sldId="279"/>
            <ac:spMk id="5" creationId="{41857EE2-C7AD-4CA6-92FF-957C6CE6394C}"/>
          </ac:spMkLst>
        </pc:spChg>
      </pc:sldChg>
      <pc:sldChg chg="addSp">
        <pc:chgData name="JASON TAN WEI HAO" userId="S::25044459@myrp.edu.sg::159790f0-cc1d-4289-8656-ecab5123fd72" providerId="AD" clId="Web-{663065B8-E780-C1DD-FDC5-AB41DA821966}" dt="2026-07-13T08:31:43.511" v="14"/>
        <pc:sldMkLst>
          <pc:docMk/>
          <pc:sldMk cId="4029080853" sldId="280"/>
        </pc:sldMkLst>
        <pc:spChg chg="add">
          <ac:chgData name="JASON TAN WEI HAO" userId="S::25044459@myrp.edu.sg::159790f0-cc1d-4289-8656-ecab5123fd72" providerId="AD" clId="Web-{663065B8-E780-C1DD-FDC5-AB41DA821966}" dt="2026-07-13T08:31:43.511" v="14"/>
          <ac:spMkLst>
            <pc:docMk/>
            <pc:sldMk cId="4029080853" sldId="280"/>
            <ac:spMk id="3" creationId="{723EBF45-FEAB-FBE3-2FE4-B17A476374F6}"/>
          </ac:spMkLst>
        </pc:spChg>
      </pc:sldChg>
      <pc:sldChg chg="addSp">
        <pc:chgData name="JASON TAN WEI HAO" userId="S::25044459@myrp.edu.sg::159790f0-cc1d-4289-8656-ecab5123fd72" providerId="AD" clId="Web-{663065B8-E780-C1DD-FDC5-AB41DA821966}" dt="2026-07-13T08:31:42.245" v="13"/>
        <pc:sldMkLst>
          <pc:docMk/>
          <pc:sldMk cId="3933661126" sldId="281"/>
        </pc:sldMkLst>
        <pc:spChg chg="add">
          <ac:chgData name="JASON TAN WEI HAO" userId="S::25044459@myrp.edu.sg::159790f0-cc1d-4289-8656-ecab5123fd72" providerId="AD" clId="Web-{663065B8-E780-C1DD-FDC5-AB41DA821966}" dt="2026-07-13T08:31:42.245" v="13"/>
          <ac:spMkLst>
            <pc:docMk/>
            <pc:sldMk cId="3933661126" sldId="281"/>
            <ac:spMk id="4" creationId="{664FD581-ECBC-1836-85A9-B1C8428F6BCB}"/>
          </ac:spMkLst>
        </pc:spChg>
      </pc:sldChg>
      <pc:sldChg chg="addSp">
        <pc:chgData name="JASON TAN WEI HAO" userId="S::25044459@myrp.edu.sg::159790f0-cc1d-4289-8656-ecab5123fd72" providerId="AD" clId="Web-{663065B8-E780-C1DD-FDC5-AB41DA821966}" dt="2026-07-13T08:31:40.495" v="12"/>
        <pc:sldMkLst>
          <pc:docMk/>
          <pc:sldMk cId="4057218678" sldId="282"/>
        </pc:sldMkLst>
        <pc:spChg chg="add">
          <ac:chgData name="JASON TAN WEI HAO" userId="S::25044459@myrp.edu.sg::159790f0-cc1d-4289-8656-ecab5123fd72" providerId="AD" clId="Web-{663065B8-E780-C1DD-FDC5-AB41DA821966}" dt="2026-07-13T08:31:40.495" v="12"/>
          <ac:spMkLst>
            <pc:docMk/>
            <pc:sldMk cId="4057218678" sldId="282"/>
            <ac:spMk id="3" creationId="{75D0E54C-2DAB-6A11-BE9F-6049B132F776}"/>
          </ac:spMkLst>
        </pc:spChg>
      </pc:sldChg>
      <pc:sldChg chg="addSp modSp">
        <pc:chgData name="JASON TAN WEI HAO" userId="S::25044459@myrp.edu.sg::159790f0-cc1d-4289-8656-ecab5123fd72" providerId="AD" clId="Web-{663065B8-E780-C1DD-FDC5-AB41DA821966}" dt="2026-07-13T08:30:57.446" v="9" actId="1076"/>
        <pc:sldMkLst>
          <pc:docMk/>
          <pc:sldMk cId="423100432" sldId="283"/>
        </pc:sldMkLst>
        <pc:spChg chg="add mod">
          <ac:chgData name="JASON TAN WEI HAO" userId="S::25044459@myrp.edu.sg::159790f0-cc1d-4289-8656-ecab5123fd72" providerId="AD" clId="Web-{663065B8-E780-C1DD-FDC5-AB41DA821966}" dt="2026-07-13T08:30:57.446" v="9" actId="1076"/>
          <ac:spMkLst>
            <pc:docMk/>
            <pc:sldMk cId="423100432" sldId="283"/>
            <ac:spMk id="2" creationId="{D7EFD406-D974-8CE3-3959-01706980F6E8}"/>
          </ac:spMkLst>
        </pc:spChg>
      </pc:sldChg>
    </pc:docChg>
  </pc:docChgLst>
</pc:chgInfo>
</file>

<file path=ppt/comments/modernComment_10B_FC67EADE.xml><?xml version="1.0" encoding="utf-8"?>
<p188:cmLst xmlns:a="http://schemas.openxmlformats.org/drawingml/2006/main" xmlns:r="http://schemas.openxmlformats.org/officeDocument/2006/relationships" xmlns:p188="http://schemas.microsoft.com/office/powerpoint/2018/8/main">
  <p188:cm id="{294A4AA2-96C4-4212-9205-79952705A855}" authorId="{E30BF194-3ABC-5942-85EC-CD8A3DEED5BE}" created="2026-07-10T05:59:02.727">
    <pc:sldMkLst xmlns:pc="http://schemas.microsoft.com/office/powerpoint/2013/main/command">
      <pc:docMk/>
      <pc:sldMk cId="4234668766" sldId="267"/>
    </pc:sldMkLst>
    <p188:txBody>
      <a:bodyPr/>
      <a:lstStyle/>
      <a:p>
        <a:r>
          <a:rPr lang="en-SG"/>
          <a:t>After Jenkins completes the build process, it automatically calls an Ansible playbook to deploy the application.
Our playbook begins by checking that Docker is available on the deployment server. It then stops and removes any existing container to ensure a clean deployment.
Next, Ansible builds the latest Docker image and starts a new container using the updated application. Finally, it performs a health check to verify that the application is running correctly.
By using Ansible, we eliminate manual deployment steps and ensure every deployment follows the same consistent process, improving reliability and reducing the risk of human error.
</a:t>
        </a:r>
      </a:p>
    </p188:txBody>
  </p188:cm>
</p188:cmLst>
</file>

<file path=ppt/comments/modernComment_10E_C32484E3.xml><?xml version="1.0" encoding="utf-8"?>
<p188:cmLst xmlns:a="http://schemas.openxmlformats.org/drawingml/2006/main" xmlns:r="http://schemas.openxmlformats.org/officeDocument/2006/relationships" xmlns:p188="http://schemas.microsoft.com/office/powerpoint/2018/8/main">
  <p188:cm id="{911F86AB-93B3-4668-B182-BF3B0A2F2CC2}" authorId="{E30BF194-3ABC-5942-85EC-CD8A3DEED5BE}" created="2026-07-10T06:13:23.778">
    <pc:sldMkLst xmlns:pc="http://schemas.microsoft.com/office/powerpoint/2013/main/command">
      <pc:docMk/>
      <pc:sldMk cId="3273950435" sldId="270"/>
    </pc:sldMkLst>
    <p188:txBody>
      <a:bodyPr/>
      <a:lstStyle/>
      <a:p>
        <a:r>
          <a:rPr lang="en-SG"/>
          <a:t>Before deploying changes to production, our team first deploys them to a dedicated staging environment.
When a developer completes a feature, they create a Pull Request to the staging-environment branch. This automatically triggers our Jenkins staging pipeline.
Jenkins checks out the latest code, builds the Docker image, and calls an Ansible playbook to deploy the application into the staging Docker container.
The team then performs functional testing to verify that the new feature works correctly and does not introduce regressions. Only after successful testing is the code approved for merging into the main branch and deployment to production.
This approach allows us to identify issues early and significantly reduces the risk of deploying faulty code to end users.</a:t>
        </a:r>
      </a:p>
    </p188:txBody>
  </p188:cm>
</p188:cmLst>
</file>

<file path=ppt/comments/modernComment_102_4161B760.xml><?xml version="1.0" encoding="utf-8"?>
<p188:cmLst xmlns:a="http://schemas.openxmlformats.org/drawingml/2006/main" xmlns:r="http://schemas.openxmlformats.org/officeDocument/2006/relationships" xmlns:p188="http://schemas.microsoft.com/office/powerpoint/2018/8/main">
  <p188:cm id="{AC5B3E31-EBC6-449C-AEBD-B31B47B8A94E}" authorId="{E30BF194-3ABC-5942-85EC-CD8A3DEED5BE}" created="2026-07-10T03:48:03.883">
    <pc:sldMkLst xmlns:pc="http://schemas.microsoft.com/office/powerpoint/2013/main/command">
      <pc:docMk/>
      <pc:sldMk cId="1096922976" sldId="258"/>
    </pc:sldMkLst>
    <p188:txBody>
      <a:bodyPr/>
      <a:lstStyle/>
      <a:p>
        <a:r>
          <a:rPr lang="en-SG"/>
          <a:t>Before implementing the DevOps pipeline, we first identified a real-world problem.
Many Republic Polytechnic students buy and sell second-hand items through general platforms like Carousell or messaging groups. These platforms are not designed specifically for RP students, making it difficult to verify users and organise listings effectively.
To solve this, our team developed RP Marketplace, a dedicated web application exclusively for RP students. Students can register using their RP credentials, browse available items, manage listings, and communicate within a centralized marketplace.
After developing the application, we focused on applying DevOps practices to automate building, testing, and deployment, which will be presented in the following slides.</a:t>
        </a:r>
      </a:p>
    </p188:txBody>
  </p188:cm>
</p188:cmLst>
</file>

<file path=ppt/comments/modernComment_103_2868FA39.xml><?xml version="1.0" encoding="utf-8"?>
<p188:cmLst xmlns:a="http://schemas.openxmlformats.org/drawingml/2006/main" xmlns:r="http://schemas.openxmlformats.org/officeDocument/2006/relationships" xmlns:p188="http://schemas.microsoft.com/office/powerpoint/2018/8/main">
  <p188:cm id="{94DF04F5-70D5-43AF-9DFA-14FE57B09D92}" authorId="{E30BF194-3ABC-5942-85EC-CD8A3DEED5BE}" created="2026-07-10T03:54:51.398">
    <pc:sldMkLst xmlns:pc="http://schemas.microsoft.com/office/powerpoint/2013/main/command">
      <pc:docMk/>
      <pc:sldMk cId="677968441" sldId="259"/>
    </pc:sldMkLst>
    <p188:txBody>
      <a:bodyPr/>
      <a:lstStyle/>
      <a:p>
        <a:r>
          <a:rPr lang="en-SG"/>
          <a:t>After identifying the problem, we developed RP Marketplace, a web application exclusively for Republic Polytechnic students.
The system allows students to register, browse listings, search for items, add products to their wishlist, and manage their own listings through a seller dashboard.
Administrators have additional capabilities such as managing user accounts, monitoring login activities, and maintaining the overall system.
From a technical perspective, the application was built using Flask as the backend framework, SQLite as the database, and standard web technologies including HTML, CSS, and JavaScript for the frontend.
To support a modern software development workflow, we integrated GitHub, Docker, Jenkins, and Ansible, which enabled us to automate the build and deployment process.</a:t>
        </a:r>
      </a:p>
    </p188:txBody>
  </p188:cm>
</p188:cmLst>
</file>

<file path=ppt/comments/modernComment_106_AFDEA664.xml><?xml version="1.0" encoding="utf-8"?>
<p188:cmLst xmlns:a="http://schemas.openxmlformats.org/drawingml/2006/main" xmlns:r="http://schemas.openxmlformats.org/officeDocument/2006/relationships" xmlns:p188="http://schemas.microsoft.com/office/powerpoint/2018/8/main">
  <p188:cm id="{A2A6C02B-3A0D-4DC7-86D0-BD61E3D09E0B}" authorId="{E30BF194-3ABC-5942-85EC-CD8A3DEED5BE}" created="2026-07-10T04:23:38.283">
    <ac:deMkLst xmlns:ac="http://schemas.microsoft.com/office/drawing/2013/main/command">
      <pc:docMk xmlns:pc="http://schemas.microsoft.com/office/powerpoint/2013/main/command"/>
      <pc:sldMk xmlns:pc="http://schemas.microsoft.com/office/powerpoint/2013/main/command" cId="2950604388" sldId="262"/>
      <ac:spMk id="2" creationId="{40661D11-1908-FF97-0EBD-4CD292129CA9}"/>
    </ac:deMkLst>
    <p188:txBody>
      <a:bodyPr/>
      <a:lstStyle/>
      <a:p>
        <a:r>
          <a:rPr lang="en-SG"/>
          <a:t>This diagram illustrates the overall DevOps architecture implemented in our project.
The development process begins when a developer creates or updates a feature branch and pushes the changes to GitHub.
After the feature is completed, a Pull Request is created to merge it into the staging-environment branch. This automatically triggers the Jenkins Staging Pipeline, which checks out the latest source code, builds a Docker image, and executes an Ansible playbook to deploy the application to the staging container.
The staging environment allows us to verify that new features work correctly without affecting the production system.
Once testing is successful, another Pull Request is created to merge the code into the main branch. This triggers the Jenkins Production Pipeline, which performs the same automated build and deployment process for the production environment.
As a result, every deployment follows a consistent, automated, and repeatable workflow, reducing manual effort and improving deployment reliability.</a:t>
        </a:r>
      </a:p>
    </p188:txBody>
  </p188:cm>
</p188:cmLst>
</file>

<file path=ppt/comments/modernComment_107_6C95553E.xml><?xml version="1.0" encoding="utf-8"?>
<p188:cmLst xmlns:a="http://schemas.openxmlformats.org/drawingml/2006/main" xmlns:r="http://schemas.openxmlformats.org/officeDocument/2006/relationships" xmlns:p188="http://schemas.microsoft.com/office/powerpoint/2018/8/main">
  <p188:cm id="{6C007F89-5C97-4D4A-942A-1E7A8DBE16D8}" authorId="{E30BF194-3ABC-5942-85EC-CD8A3DEED5BE}" created="2026-07-10T05:14:36.077">
    <ac:deMkLst xmlns:ac="http://schemas.microsoft.com/office/drawing/2013/main/command">
      <pc:docMk xmlns:pc="http://schemas.microsoft.com/office/powerpoint/2013/main/command"/>
      <pc:sldMk xmlns:pc="http://schemas.microsoft.com/office/powerpoint/2013/main/command" cId="1821726014" sldId="263"/>
      <ac:spMk id="3" creationId="{1722BDC2-9BD1-C8A0-A0C7-1CC547B5BF0C}"/>
    </ac:deMkLst>
    <p188:txBody>
      <a:bodyPr/>
      <a:lstStyle/>
      <a:p>
        <a:r>
          <a:rPr lang="en-SG"/>
          <a:t>Docker is responsible for containerising our application. Instead of deploying source code directly, Docker packages the application together with all required dependencies into a container.
In our project, Docker uses the Dockerfile to build an image of the RP Marketplace application. This image is then executed as a container, providing a consistent runtime environment across development, staging, and production.
Using Docker ensures that the application behaves the same regardless of the host machine, reducing environment-related issues and making deployment faster and more reliable.</a:t>
        </a:r>
      </a:p>
    </p188:txBody>
  </p188:cm>
</p188:cmLst>
</file>

<file path=ppt/comments/modernComment_109_3FB5B910.xml><?xml version="1.0" encoding="utf-8"?>
<p188:cmLst xmlns:a="http://schemas.openxmlformats.org/drawingml/2006/main" xmlns:r="http://schemas.openxmlformats.org/officeDocument/2006/relationships" xmlns:p188="http://schemas.microsoft.com/office/powerpoint/2018/8/main">
  <p188:cm id="{44E2C741-0CD3-4C3B-B301-DAFCF369F0AE}" authorId="{E30BF194-3ABC-5942-85EC-CD8A3DEED5BE}" created="2026-07-10T05:33:52.698">
    <pc:sldMkLst xmlns:pc="http://schemas.microsoft.com/office/powerpoint/2013/main/command">
      <pc:docMk/>
      <pc:sldMk cId="1068874000" sldId="265"/>
    </pc:sldMkLst>
    <p188:txBody>
      <a:bodyPr/>
      <a:lstStyle/>
      <a:p>
        <a:r>
          <a:rPr lang="en-SG"/>
          <a:t>Jenkins is the automation server that powers our CI/CD pipeline. Whenever code is merged into the main branch, Jenkins automatically starts the production pipeline.
The pipeline begins by checking out the latest source code from GitHub. It then builds a Docker image and verifies that the image has been created successfully. Once verification is complete, Jenkins executes an Ansible playbook to deploy the application automatically.
This automation removes the need for manual deployment, reduces human error, and ensures that every deployment follows the same repeatable process. It also provides detailed logs, making it easier to monitor builds and troubleshoot issues if a deployment fails.</a:t>
        </a:r>
      </a:p>
    </p188:txBody>
  </p188:cm>
</p188:cmLst>
</file>

<file path=ppt/comments/modernComment_111_9023F5DE.xml><?xml version="1.0" encoding="utf-8"?>
<p188:cmLst xmlns:a="http://schemas.openxmlformats.org/drawingml/2006/main" xmlns:r="http://schemas.openxmlformats.org/officeDocument/2006/relationships" xmlns:p188="http://schemas.microsoft.com/office/powerpoint/2018/8/main">
  <p188:cm id="{3E2EE77F-F7B6-4F2D-A872-EACAEA136771}" authorId="{E30BF194-3ABC-5942-85EC-CD8A3DEED5BE}" created="2026-07-10T06:17:26.153">
    <pc:sldMkLst xmlns:pc="http://schemas.microsoft.com/office/powerpoint/2013/main/command">
      <pc:docMk/>
      <pc:sldMk cId="2418275806" sldId="273"/>
    </pc:sldMkLst>
    <p188:txBody>
      <a:bodyPr/>
      <a:lstStyle/>
      <a:p>
        <a:r>
          <a:rPr lang="en-SG"/>
          <a:t>Once all testing in the staging environment is completed successfully, the code is approved and merged into the main branch.
This automatically triggers the Jenkins production pipeline. Jenkins checks out the latest source code, builds the Docker image, and calls the Ansible deployment playbook.
Ansible deploys the latest version of the application by updating the Docker container and performing a health check to ensure the deployment was successful.
This automated workflow guarantees that only tested and approved code is released to the live RP Marketplace application, providing a stable experience for end users.</a:t>
        </a:r>
      </a:p>
    </p188:txBody>
  </p188:cm>
</p188:cmLst>
</file>

<file path=ppt/comments/modernComment_112_DD2B80E4.xml><?xml version="1.0" encoding="utf-8"?>
<p188:cmLst xmlns:a="http://schemas.openxmlformats.org/drawingml/2006/main" xmlns:r="http://schemas.openxmlformats.org/officeDocument/2006/relationships" xmlns:p188="http://schemas.microsoft.com/office/powerpoint/2018/8/main">
  <p188:cm id="{C06091FD-16F4-4735-838F-792FDBD7B1ED}" authorId="{E30BF194-3ABC-5942-85EC-CD8A3DEED5BE}" created="2026-07-10T06:22:01.087">
    <pc:sldMkLst xmlns:pc="http://schemas.microsoft.com/office/powerpoint/2013/main/command">
      <pc:docMk/>
      <pc:sldMk cId="3710615780" sldId="274"/>
    </pc:sldMkLst>
    <p188:txBody>
      <a:bodyPr/>
      <a:lstStyle/>
      <a:p>
        <a:r>
          <a:rPr lang="en-SG"/>
          <a:t>Throughout the project, our team encountered several real-world DevOps challenges that helped us better understand software development and deployment practices.
One of the biggest challenges was Git merge conflicts, especially when multiple team members were working on different features simultaneously. We addressed this by adopting a feature branching strategy and requiring Pull Requests before merging changes.
We also experienced an accidental overwrite of the main branch. Using Git's version control capabilities, we successfully reverted the changes and introduced a more controlled review process before merging future updates.
During CI/CD implementation, we encountered Jenkins pipeline configuration issues and Docker deployment failures. By analysing Jenkins logs, Docker logs, and Ansible playbook outputs, we identified and resolved these problems, ensuring our automated deployment process became stable.
These experiences reinforced the importance of collaboration, automation, testing, and structured deployment workflows in a DevOps environment.</a:t>
        </a:r>
      </a:p>
    </p188:txBody>
  </p188:cm>
</p188:cmLst>
</file>

<file path=ppt/diagrams/_rels/data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D59DC99-F988-40CF-9F42-D2D7250E8F8F}"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F3E8CBF5-AD71-4493-AAFB-C4FE734B5D83}">
      <dgm:prSet/>
      <dgm:spPr/>
      <dgm:t>
        <a:bodyPr/>
        <a:lstStyle/>
        <a:p>
          <a:r>
            <a:rPr lang="en-SG" b="1"/>
            <a:t>Background: </a:t>
          </a:r>
          <a:r>
            <a:rPr lang="en-SG"/>
            <a:t>Republic Polytechnic students often rely on external platforms such as Carousell or Telegram groups to buy and sell second-hand items. These platforms are not designed specifically for RP students and present several challenges.</a:t>
          </a:r>
          <a:endParaRPr lang="en-US"/>
        </a:p>
      </dgm:t>
    </dgm:pt>
    <dgm:pt modelId="{6796E660-A793-4580-9161-7DA49CE2BDCA}" type="parTrans" cxnId="{F8C7160C-1E03-4402-A94A-081EDECBEC41}">
      <dgm:prSet/>
      <dgm:spPr/>
      <dgm:t>
        <a:bodyPr/>
        <a:lstStyle/>
        <a:p>
          <a:endParaRPr lang="en-US"/>
        </a:p>
      </dgm:t>
    </dgm:pt>
    <dgm:pt modelId="{B29DC385-1A81-42CC-BFCD-FB70A00AF394}" type="sibTrans" cxnId="{F8C7160C-1E03-4402-A94A-081EDECBEC41}">
      <dgm:prSet/>
      <dgm:spPr/>
      <dgm:t>
        <a:bodyPr/>
        <a:lstStyle/>
        <a:p>
          <a:endParaRPr lang="en-US"/>
        </a:p>
      </dgm:t>
    </dgm:pt>
    <dgm:pt modelId="{072BDF75-DF63-492F-9B7C-87A46D993BCE}">
      <dgm:prSet/>
      <dgm:spPr/>
      <dgm:t>
        <a:bodyPr/>
        <a:lstStyle/>
        <a:p>
          <a:r>
            <a:rPr lang="en-SG" b="1"/>
            <a:t>Existing Problem:</a:t>
          </a:r>
          <a:endParaRPr lang="en-US"/>
        </a:p>
      </dgm:t>
    </dgm:pt>
    <dgm:pt modelId="{2242E35F-34A4-463D-8ED2-9B2B5EB94879}" type="parTrans" cxnId="{513B5674-C6A8-4DB5-8232-F40BCABC3E47}">
      <dgm:prSet/>
      <dgm:spPr/>
      <dgm:t>
        <a:bodyPr/>
        <a:lstStyle/>
        <a:p>
          <a:endParaRPr lang="en-US"/>
        </a:p>
      </dgm:t>
    </dgm:pt>
    <dgm:pt modelId="{FAF05E0B-4EA0-4046-B5AF-34B580BB9CA8}" type="sibTrans" cxnId="{513B5674-C6A8-4DB5-8232-F40BCABC3E47}">
      <dgm:prSet/>
      <dgm:spPr/>
      <dgm:t>
        <a:bodyPr/>
        <a:lstStyle/>
        <a:p>
          <a:endParaRPr lang="en-US"/>
        </a:p>
      </dgm:t>
    </dgm:pt>
    <dgm:pt modelId="{5FB53094-E3E5-46B8-A1BD-8194780C19FE}">
      <dgm:prSet/>
      <dgm:spPr/>
      <dgm:t>
        <a:bodyPr/>
        <a:lstStyle/>
        <a:p>
          <a:r>
            <a:rPr lang="en-SG"/>
            <a:t>No verification that buyers and sellers are RP students</a:t>
          </a:r>
          <a:endParaRPr lang="en-US"/>
        </a:p>
      </dgm:t>
    </dgm:pt>
    <dgm:pt modelId="{957BF65D-D52A-479A-A290-226B24545992}" type="parTrans" cxnId="{44229846-2A3A-4587-9504-092D5CD30EA6}">
      <dgm:prSet/>
      <dgm:spPr/>
      <dgm:t>
        <a:bodyPr/>
        <a:lstStyle/>
        <a:p>
          <a:endParaRPr lang="en-US"/>
        </a:p>
      </dgm:t>
    </dgm:pt>
    <dgm:pt modelId="{4C943C8B-B717-4F20-A98B-6D8738F3CE57}" type="sibTrans" cxnId="{44229846-2A3A-4587-9504-092D5CD30EA6}">
      <dgm:prSet/>
      <dgm:spPr/>
      <dgm:t>
        <a:bodyPr/>
        <a:lstStyle/>
        <a:p>
          <a:endParaRPr lang="en-US"/>
        </a:p>
      </dgm:t>
    </dgm:pt>
    <dgm:pt modelId="{7671BED6-C42D-4754-B78F-5475ECA2A6C4}">
      <dgm:prSet/>
      <dgm:spPr/>
      <dgm:t>
        <a:bodyPr/>
        <a:lstStyle/>
        <a:p>
          <a:r>
            <a:rPr lang="en-SG"/>
            <a:t>Communication and transactions are handled outside the platform.</a:t>
          </a:r>
          <a:endParaRPr lang="en-US"/>
        </a:p>
      </dgm:t>
    </dgm:pt>
    <dgm:pt modelId="{A2617FC2-591B-4B19-B550-57EA3BDC6705}" type="parTrans" cxnId="{EC0328DF-1FCB-466D-9892-F1BF909AA8B9}">
      <dgm:prSet/>
      <dgm:spPr/>
      <dgm:t>
        <a:bodyPr/>
        <a:lstStyle/>
        <a:p>
          <a:endParaRPr lang="en-US"/>
        </a:p>
      </dgm:t>
    </dgm:pt>
    <dgm:pt modelId="{24A3AE5D-2757-4AB9-9AB2-1157655B4FE1}" type="sibTrans" cxnId="{EC0328DF-1FCB-466D-9892-F1BF909AA8B9}">
      <dgm:prSet/>
      <dgm:spPr/>
      <dgm:t>
        <a:bodyPr/>
        <a:lstStyle/>
        <a:p>
          <a:endParaRPr lang="en-US"/>
        </a:p>
      </dgm:t>
    </dgm:pt>
    <dgm:pt modelId="{F519F954-8416-4204-A507-56D0CC48C825}">
      <dgm:prSet/>
      <dgm:spPr/>
      <dgm:t>
        <a:bodyPr/>
        <a:lstStyle/>
        <a:p>
          <a:r>
            <a:rPr lang="en-SG"/>
            <a:t>Lack of a centralized marketplace dedicated to the RP community.</a:t>
          </a:r>
          <a:endParaRPr lang="en-US"/>
        </a:p>
      </dgm:t>
    </dgm:pt>
    <dgm:pt modelId="{0EE59D37-1AA3-428B-A8E8-1B7A0856C492}" type="parTrans" cxnId="{00257C09-EED5-4337-8738-AA3C76C1BCFE}">
      <dgm:prSet/>
      <dgm:spPr/>
      <dgm:t>
        <a:bodyPr/>
        <a:lstStyle/>
        <a:p>
          <a:endParaRPr lang="en-US"/>
        </a:p>
      </dgm:t>
    </dgm:pt>
    <dgm:pt modelId="{895BC527-6EC7-4C47-BABE-BC88BE626CB4}" type="sibTrans" cxnId="{00257C09-EED5-4337-8738-AA3C76C1BCFE}">
      <dgm:prSet/>
      <dgm:spPr/>
      <dgm:t>
        <a:bodyPr/>
        <a:lstStyle/>
        <a:p>
          <a:endParaRPr lang="en-US"/>
        </a:p>
      </dgm:t>
    </dgm:pt>
    <dgm:pt modelId="{52C1126D-4BD9-45C3-A137-93637EF9A1D8}">
      <dgm:prSet/>
      <dgm:spPr/>
      <dgm:t>
        <a:bodyPr/>
        <a:lstStyle/>
        <a:p>
          <a:r>
            <a:rPr lang="en-SG" b="1"/>
            <a:t>Proposed Solution: </a:t>
          </a:r>
          <a:r>
            <a:rPr lang="en-SG"/>
            <a:t>To address these issues, our team developed </a:t>
          </a:r>
          <a:r>
            <a:rPr lang="en-SG" b="1"/>
            <a:t>RP Marketplace</a:t>
          </a:r>
          <a:r>
            <a:rPr lang="en-SG"/>
            <a:t>, a web-based application exclusively for Republic Polytechnic students. The system allows verified students to securely buy and sell second-hand items while providing a structured and user-friendly marketplace.</a:t>
          </a:r>
          <a:endParaRPr lang="en-US"/>
        </a:p>
      </dgm:t>
    </dgm:pt>
    <dgm:pt modelId="{F9C25ED2-C44C-4979-8E2D-7787300B80D4}" type="parTrans" cxnId="{FBED8816-6BE1-4343-933C-9EDB64348EF2}">
      <dgm:prSet/>
      <dgm:spPr/>
      <dgm:t>
        <a:bodyPr/>
        <a:lstStyle/>
        <a:p>
          <a:endParaRPr lang="en-US"/>
        </a:p>
      </dgm:t>
    </dgm:pt>
    <dgm:pt modelId="{16040E4E-8255-476A-99BC-710C7C031182}" type="sibTrans" cxnId="{FBED8816-6BE1-4343-933C-9EDB64348EF2}">
      <dgm:prSet/>
      <dgm:spPr/>
      <dgm:t>
        <a:bodyPr/>
        <a:lstStyle/>
        <a:p>
          <a:endParaRPr lang="en-US"/>
        </a:p>
      </dgm:t>
    </dgm:pt>
    <dgm:pt modelId="{BA167949-8092-4003-972B-3453AB7E8556}" type="pres">
      <dgm:prSet presAssocID="{BD59DC99-F988-40CF-9F42-D2D7250E8F8F}" presName="root" presStyleCnt="0">
        <dgm:presLayoutVars>
          <dgm:dir/>
          <dgm:resizeHandles val="exact"/>
        </dgm:presLayoutVars>
      </dgm:prSet>
      <dgm:spPr/>
    </dgm:pt>
    <dgm:pt modelId="{D0AA688F-CCF2-4129-8862-D5174E3C815A}" type="pres">
      <dgm:prSet presAssocID="{F3E8CBF5-AD71-4493-AAFB-C4FE734B5D83}" presName="compNode" presStyleCnt="0"/>
      <dgm:spPr/>
    </dgm:pt>
    <dgm:pt modelId="{8F3BEAD5-E6EC-4CB4-A28F-60D2092A8D32}" type="pres">
      <dgm:prSet presAssocID="{F3E8CBF5-AD71-4493-AAFB-C4FE734B5D83}" presName="bgRect" presStyleLbl="bgShp" presStyleIdx="0" presStyleCnt="3"/>
      <dgm:spPr/>
    </dgm:pt>
    <dgm:pt modelId="{8AE69007-5CC7-42DD-96A0-0097CBE44FED}" type="pres">
      <dgm:prSet presAssocID="{F3E8CBF5-AD71-4493-AAFB-C4FE734B5D83}"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Kiosk"/>
        </a:ext>
      </dgm:extLst>
    </dgm:pt>
    <dgm:pt modelId="{2CFE4FE3-5806-4A7C-A3E9-6462ADDD1D3A}" type="pres">
      <dgm:prSet presAssocID="{F3E8CBF5-AD71-4493-AAFB-C4FE734B5D83}" presName="spaceRect" presStyleCnt="0"/>
      <dgm:spPr/>
    </dgm:pt>
    <dgm:pt modelId="{B9B72081-805C-469D-BC62-C82E66583E60}" type="pres">
      <dgm:prSet presAssocID="{F3E8CBF5-AD71-4493-AAFB-C4FE734B5D83}" presName="parTx" presStyleLbl="revTx" presStyleIdx="0" presStyleCnt="4">
        <dgm:presLayoutVars>
          <dgm:chMax val="0"/>
          <dgm:chPref val="0"/>
        </dgm:presLayoutVars>
      </dgm:prSet>
      <dgm:spPr/>
    </dgm:pt>
    <dgm:pt modelId="{663CFF64-7473-4D75-AF93-E1F241B8DC19}" type="pres">
      <dgm:prSet presAssocID="{B29DC385-1A81-42CC-BFCD-FB70A00AF394}" presName="sibTrans" presStyleCnt="0"/>
      <dgm:spPr/>
    </dgm:pt>
    <dgm:pt modelId="{49EB3EF8-889B-4D48-BEA1-9A82FE0FC9DD}" type="pres">
      <dgm:prSet presAssocID="{072BDF75-DF63-492F-9B7C-87A46D993BCE}" presName="compNode" presStyleCnt="0"/>
      <dgm:spPr/>
    </dgm:pt>
    <dgm:pt modelId="{F27B5777-517A-4D4A-9540-092A287C102E}" type="pres">
      <dgm:prSet presAssocID="{072BDF75-DF63-492F-9B7C-87A46D993BCE}" presName="bgRect" presStyleLbl="bgShp" presStyleIdx="1" presStyleCnt="3"/>
      <dgm:spPr/>
    </dgm:pt>
    <dgm:pt modelId="{9516C3AA-7077-4323-B57E-8EDCD391CAAA}" type="pres">
      <dgm:prSet presAssocID="{072BDF75-DF63-492F-9B7C-87A46D993BCE}"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sers"/>
        </a:ext>
      </dgm:extLst>
    </dgm:pt>
    <dgm:pt modelId="{6F079988-2879-40F5-9576-B06275698077}" type="pres">
      <dgm:prSet presAssocID="{072BDF75-DF63-492F-9B7C-87A46D993BCE}" presName="spaceRect" presStyleCnt="0"/>
      <dgm:spPr/>
    </dgm:pt>
    <dgm:pt modelId="{F64CCB83-BA45-4767-8B6B-664AC782D7A0}" type="pres">
      <dgm:prSet presAssocID="{072BDF75-DF63-492F-9B7C-87A46D993BCE}" presName="parTx" presStyleLbl="revTx" presStyleIdx="1" presStyleCnt="4">
        <dgm:presLayoutVars>
          <dgm:chMax val="0"/>
          <dgm:chPref val="0"/>
        </dgm:presLayoutVars>
      </dgm:prSet>
      <dgm:spPr/>
    </dgm:pt>
    <dgm:pt modelId="{2106547F-8759-4AB3-B355-C9420BB47E5E}" type="pres">
      <dgm:prSet presAssocID="{072BDF75-DF63-492F-9B7C-87A46D993BCE}" presName="desTx" presStyleLbl="revTx" presStyleIdx="2" presStyleCnt="4">
        <dgm:presLayoutVars/>
      </dgm:prSet>
      <dgm:spPr/>
    </dgm:pt>
    <dgm:pt modelId="{0506473E-4C29-485F-9333-5DC556547A70}" type="pres">
      <dgm:prSet presAssocID="{FAF05E0B-4EA0-4046-B5AF-34B580BB9CA8}" presName="sibTrans" presStyleCnt="0"/>
      <dgm:spPr/>
    </dgm:pt>
    <dgm:pt modelId="{654FCCF1-FA08-434B-910E-2C21E7A217E9}" type="pres">
      <dgm:prSet presAssocID="{52C1126D-4BD9-45C3-A137-93637EF9A1D8}" presName="compNode" presStyleCnt="0"/>
      <dgm:spPr/>
    </dgm:pt>
    <dgm:pt modelId="{0E8B9AD1-E48C-455E-A22F-D446725371C9}" type="pres">
      <dgm:prSet presAssocID="{52C1126D-4BD9-45C3-A137-93637EF9A1D8}" presName="bgRect" presStyleLbl="bgShp" presStyleIdx="2" presStyleCnt="3"/>
      <dgm:spPr/>
    </dgm:pt>
    <dgm:pt modelId="{8B384ED5-0018-4364-800A-9632A80B2CBD}" type="pres">
      <dgm:prSet presAssocID="{52C1126D-4BD9-45C3-A137-93637EF9A1D8}"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Schoolhouse"/>
        </a:ext>
      </dgm:extLst>
    </dgm:pt>
    <dgm:pt modelId="{92E80BE9-04FE-4420-9A55-3FE195154DDC}" type="pres">
      <dgm:prSet presAssocID="{52C1126D-4BD9-45C3-A137-93637EF9A1D8}" presName="spaceRect" presStyleCnt="0"/>
      <dgm:spPr/>
    </dgm:pt>
    <dgm:pt modelId="{31829FF7-4241-435E-B65B-BA4F1879949A}" type="pres">
      <dgm:prSet presAssocID="{52C1126D-4BD9-45C3-A137-93637EF9A1D8}" presName="parTx" presStyleLbl="revTx" presStyleIdx="3" presStyleCnt="4">
        <dgm:presLayoutVars>
          <dgm:chMax val="0"/>
          <dgm:chPref val="0"/>
        </dgm:presLayoutVars>
      </dgm:prSet>
      <dgm:spPr/>
    </dgm:pt>
  </dgm:ptLst>
  <dgm:cxnLst>
    <dgm:cxn modelId="{5E3F3D04-D69A-4A3B-AD5E-E390C2D799B6}" type="presOf" srcId="{7671BED6-C42D-4754-B78F-5475ECA2A6C4}" destId="{2106547F-8759-4AB3-B355-C9420BB47E5E}" srcOrd="0" destOrd="1" presId="urn:microsoft.com/office/officeart/2018/2/layout/IconVerticalSolidList"/>
    <dgm:cxn modelId="{00257C09-EED5-4337-8738-AA3C76C1BCFE}" srcId="{072BDF75-DF63-492F-9B7C-87A46D993BCE}" destId="{F519F954-8416-4204-A507-56D0CC48C825}" srcOrd="2" destOrd="0" parTransId="{0EE59D37-1AA3-428B-A8E8-1B7A0856C492}" sibTransId="{895BC527-6EC7-4C47-BABE-BC88BE626CB4}"/>
    <dgm:cxn modelId="{F8C7160C-1E03-4402-A94A-081EDECBEC41}" srcId="{BD59DC99-F988-40CF-9F42-D2D7250E8F8F}" destId="{F3E8CBF5-AD71-4493-AAFB-C4FE734B5D83}" srcOrd="0" destOrd="0" parTransId="{6796E660-A793-4580-9161-7DA49CE2BDCA}" sibTransId="{B29DC385-1A81-42CC-BFCD-FB70A00AF394}"/>
    <dgm:cxn modelId="{FBED8816-6BE1-4343-933C-9EDB64348EF2}" srcId="{BD59DC99-F988-40CF-9F42-D2D7250E8F8F}" destId="{52C1126D-4BD9-45C3-A137-93637EF9A1D8}" srcOrd="2" destOrd="0" parTransId="{F9C25ED2-C44C-4979-8E2D-7787300B80D4}" sibTransId="{16040E4E-8255-476A-99BC-710C7C031182}"/>
    <dgm:cxn modelId="{44229846-2A3A-4587-9504-092D5CD30EA6}" srcId="{072BDF75-DF63-492F-9B7C-87A46D993BCE}" destId="{5FB53094-E3E5-46B8-A1BD-8194780C19FE}" srcOrd="0" destOrd="0" parTransId="{957BF65D-D52A-479A-A290-226B24545992}" sibTransId="{4C943C8B-B717-4F20-A98B-6D8738F3CE57}"/>
    <dgm:cxn modelId="{513B5674-C6A8-4DB5-8232-F40BCABC3E47}" srcId="{BD59DC99-F988-40CF-9F42-D2D7250E8F8F}" destId="{072BDF75-DF63-492F-9B7C-87A46D993BCE}" srcOrd="1" destOrd="0" parTransId="{2242E35F-34A4-463D-8ED2-9B2B5EB94879}" sibTransId="{FAF05E0B-4EA0-4046-B5AF-34B580BB9CA8}"/>
    <dgm:cxn modelId="{F4F57284-71A3-4D18-B2EA-8317BAEEEC30}" type="presOf" srcId="{5FB53094-E3E5-46B8-A1BD-8194780C19FE}" destId="{2106547F-8759-4AB3-B355-C9420BB47E5E}" srcOrd="0" destOrd="0" presId="urn:microsoft.com/office/officeart/2018/2/layout/IconVerticalSolidList"/>
    <dgm:cxn modelId="{98DC85CC-E323-4391-91D5-49B796AE2190}" type="presOf" srcId="{F3E8CBF5-AD71-4493-AAFB-C4FE734B5D83}" destId="{B9B72081-805C-469D-BC62-C82E66583E60}" srcOrd="0" destOrd="0" presId="urn:microsoft.com/office/officeart/2018/2/layout/IconVerticalSolidList"/>
    <dgm:cxn modelId="{28856CD4-8FFE-484B-9BA5-B6688D699EAF}" type="presOf" srcId="{BD59DC99-F988-40CF-9F42-D2D7250E8F8F}" destId="{BA167949-8092-4003-972B-3453AB7E8556}" srcOrd="0" destOrd="0" presId="urn:microsoft.com/office/officeart/2018/2/layout/IconVerticalSolidList"/>
    <dgm:cxn modelId="{EC0328DF-1FCB-466D-9892-F1BF909AA8B9}" srcId="{072BDF75-DF63-492F-9B7C-87A46D993BCE}" destId="{7671BED6-C42D-4754-B78F-5475ECA2A6C4}" srcOrd="1" destOrd="0" parTransId="{A2617FC2-591B-4B19-B550-57EA3BDC6705}" sibTransId="{24A3AE5D-2757-4AB9-9AB2-1157655B4FE1}"/>
    <dgm:cxn modelId="{1EE411EA-0D3C-48D1-9F29-0C29807C753C}" type="presOf" srcId="{F519F954-8416-4204-A507-56D0CC48C825}" destId="{2106547F-8759-4AB3-B355-C9420BB47E5E}" srcOrd="0" destOrd="2" presId="urn:microsoft.com/office/officeart/2018/2/layout/IconVerticalSolidList"/>
    <dgm:cxn modelId="{E5C2B1F2-B876-43E5-9AE7-0949B360640F}" type="presOf" srcId="{52C1126D-4BD9-45C3-A137-93637EF9A1D8}" destId="{31829FF7-4241-435E-B65B-BA4F1879949A}" srcOrd="0" destOrd="0" presId="urn:microsoft.com/office/officeart/2018/2/layout/IconVerticalSolidList"/>
    <dgm:cxn modelId="{1CC8B8F4-CEB4-4F99-995F-77DF985BC544}" type="presOf" srcId="{072BDF75-DF63-492F-9B7C-87A46D993BCE}" destId="{F64CCB83-BA45-4767-8B6B-664AC782D7A0}" srcOrd="0" destOrd="0" presId="urn:microsoft.com/office/officeart/2018/2/layout/IconVerticalSolidList"/>
    <dgm:cxn modelId="{0073B8FA-28FF-463D-8E97-7919DC88FC0C}" type="presParOf" srcId="{BA167949-8092-4003-972B-3453AB7E8556}" destId="{D0AA688F-CCF2-4129-8862-D5174E3C815A}" srcOrd="0" destOrd="0" presId="urn:microsoft.com/office/officeart/2018/2/layout/IconVerticalSolidList"/>
    <dgm:cxn modelId="{FE1F7845-501C-4BF0-89D6-C874E2245D7E}" type="presParOf" srcId="{D0AA688F-CCF2-4129-8862-D5174E3C815A}" destId="{8F3BEAD5-E6EC-4CB4-A28F-60D2092A8D32}" srcOrd="0" destOrd="0" presId="urn:microsoft.com/office/officeart/2018/2/layout/IconVerticalSolidList"/>
    <dgm:cxn modelId="{44366BBE-F12A-4E56-9C8A-DC6CDCE9E014}" type="presParOf" srcId="{D0AA688F-CCF2-4129-8862-D5174E3C815A}" destId="{8AE69007-5CC7-42DD-96A0-0097CBE44FED}" srcOrd="1" destOrd="0" presId="urn:microsoft.com/office/officeart/2018/2/layout/IconVerticalSolidList"/>
    <dgm:cxn modelId="{684336B4-97CA-4266-AE78-5344FFC539DB}" type="presParOf" srcId="{D0AA688F-CCF2-4129-8862-D5174E3C815A}" destId="{2CFE4FE3-5806-4A7C-A3E9-6462ADDD1D3A}" srcOrd="2" destOrd="0" presId="urn:microsoft.com/office/officeart/2018/2/layout/IconVerticalSolidList"/>
    <dgm:cxn modelId="{10E81770-3F52-41C4-BAE2-99218EB32F17}" type="presParOf" srcId="{D0AA688F-CCF2-4129-8862-D5174E3C815A}" destId="{B9B72081-805C-469D-BC62-C82E66583E60}" srcOrd="3" destOrd="0" presId="urn:microsoft.com/office/officeart/2018/2/layout/IconVerticalSolidList"/>
    <dgm:cxn modelId="{8B45ADD4-C779-4004-A386-DA34442CB8D9}" type="presParOf" srcId="{BA167949-8092-4003-972B-3453AB7E8556}" destId="{663CFF64-7473-4D75-AF93-E1F241B8DC19}" srcOrd="1" destOrd="0" presId="urn:microsoft.com/office/officeart/2018/2/layout/IconVerticalSolidList"/>
    <dgm:cxn modelId="{AF654BF0-2708-4DDF-AFE8-16C1030E4CAF}" type="presParOf" srcId="{BA167949-8092-4003-972B-3453AB7E8556}" destId="{49EB3EF8-889B-4D48-BEA1-9A82FE0FC9DD}" srcOrd="2" destOrd="0" presId="urn:microsoft.com/office/officeart/2018/2/layout/IconVerticalSolidList"/>
    <dgm:cxn modelId="{AA89482F-7178-4C9D-AF3B-989794FE8136}" type="presParOf" srcId="{49EB3EF8-889B-4D48-BEA1-9A82FE0FC9DD}" destId="{F27B5777-517A-4D4A-9540-092A287C102E}" srcOrd="0" destOrd="0" presId="urn:microsoft.com/office/officeart/2018/2/layout/IconVerticalSolidList"/>
    <dgm:cxn modelId="{6FBAD530-DF68-4A39-8C1A-A44DD477D744}" type="presParOf" srcId="{49EB3EF8-889B-4D48-BEA1-9A82FE0FC9DD}" destId="{9516C3AA-7077-4323-B57E-8EDCD391CAAA}" srcOrd="1" destOrd="0" presId="urn:microsoft.com/office/officeart/2018/2/layout/IconVerticalSolidList"/>
    <dgm:cxn modelId="{7674A04F-A46D-4872-840F-3A9CBFBD6574}" type="presParOf" srcId="{49EB3EF8-889B-4D48-BEA1-9A82FE0FC9DD}" destId="{6F079988-2879-40F5-9576-B06275698077}" srcOrd="2" destOrd="0" presId="urn:microsoft.com/office/officeart/2018/2/layout/IconVerticalSolidList"/>
    <dgm:cxn modelId="{22FA4295-718B-455E-991D-2703FEAA925B}" type="presParOf" srcId="{49EB3EF8-889B-4D48-BEA1-9A82FE0FC9DD}" destId="{F64CCB83-BA45-4767-8B6B-664AC782D7A0}" srcOrd="3" destOrd="0" presId="urn:microsoft.com/office/officeart/2018/2/layout/IconVerticalSolidList"/>
    <dgm:cxn modelId="{1F31BB81-52D2-4D37-BF52-5FF2C428150B}" type="presParOf" srcId="{49EB3EF8-889B-4D48-BEA1-9A82FE0FC9DD}" destId="{2106547F-8759-4AB3-B355-C9420BB47E5E}" srcOrd="4" destOrd="0" presId="urn:microsoft.com/office/officeart/2018/2/layout/IconVerticalSolidList"/>
    <dgm:cxn modelId="{A24D996C-849E-4370-9588-85E8A313902D}" type="presParOf" srcId="{BA167949-8092-4003-972B-3453AB7E8556}" destId="{0506473E-4C29-485F-9333-5DC556547A70}" srcOrd="3" destOrd="0" presId="urn:microsoft.com/office/officeart/2018/2/layout/IconVerticalSolidList"/>
    <dgm:cxn modelId="{2DF8990D-C9E8-4BF1-9793-4ABC4636CF45}" type="presParOf" srcId="{BA167949-8092-4003-972B-3453AB7E8556}" destId="{654FCCF1-FA08-434B-910E-2C21E7A217E9}" srcOrd="4" destOrd="0" presId="urn:microsoft.com/office/officeart/2018/2/layout/IconVerticalSolidList"/>
    <dgm:cxn modelId="{CD642F4E-0D19-471F-A0E7-CDA0D9F75985}" type="presParOf" srcId="{654FCCF1-FA08-434B-910E-2C21E7A217E9}" destId="{0E8B9AD1-E48C-455E-A22F-D446725371C9}" srcOrd="0" destOrd="0" presId="urn:microsoft.com/office/officeart/2018/2/layout/IconVerticalSolidList"/>
    <dgm:cxn modelId="{5544D4F1-3B5C-4AE6-BC99-3B28B8B36198}" type="presParOf" srcId="{654FCCF1-FA08-434B-910E-2C21E7A217E9}" destId="{8B384ED5-0018-4364-800A-9632A80B2CBD}" srcOrd="1" destOrd="0" presId="urn:microsoft.com/office/officeart/2018/2/layout/IconVerticalSolidList"/>
    <dgm:cxn modelId="{AAABE898-1F95-4173-9E57-60A4D08AD96F}" type="presParOf" srcId="{654FCCF1-FA08-434B-910E-2C21E7A217E9}" destId="{92E80BE9-04FE-4420-9A55-3FE195154DDC}" srcOrd="2" destOrd="0" presId="urn:microsoft.com/office/officeart/2018/2/layout/IconVerticalSolidList"/>
    <dgm:cxn modelId="{82328AD7-5BC0-47B2-91AC-5EF66AD7CE57}" type="presParOf" srcId="{654FCCF1-FA08-434B-910E-2C21E7A217E9}" destId="{31829FF7-4241-435E-B65B-BA4F1879949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3BEAD5-E6EC-4CB4-A28F-60D2092A8D32}">
      <dsp:nvSpPr>
        <dsp:cNvPr id="0" name=""/>
        <dsp:cNvSpPr/>
      </dsp:nvSpPr>
      <dsp:spPr>
        <a:xfrm>
          <a:off x="0" y="538"/>
          <a:ext cx="10945037" cy="12609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AE69007-5CC7-42DD-96A0-0097CBE44FED}">
      <dsp:nvSpPr>
        <dsp:cNvPr id="0" name=""/>
        <dsp:cNvSpPr/>
      </dsp:nvSpPr>
      <dsp:spPr>
        <a:xfrm>
          <a:off x="381433" y="284249"/>
          <a:ext cx="693514" cy="6935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9B72081-805C-469D-BC62-C82E66583E60}">
      <dsp:nvSpPr>
        <dsp:cNvPr id="0" name=""/>
        <dsp:cNvSpPr/>
      </dsp:nvSpPr>
      <dsp:spPr>
        <a:xfrm>
          <a:off x="1456381" y="538"/>
          <a:ext cx="9488655" cy="12609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449" tIns="133449" rIns="133449" bIns="133449" numCol="1" spcCol="1270" anchor="ctr" anchorCtr="0">
          <a:noAutofit/>
        </a:bodyPr>
        <a:lstStyle/>
        <a:p>
          <a:pPr marL="0" lvl="0" indent="0" algn="l" defTabSz="755650">
            <a:lnSpc>
              <a:spcPct val="90000"/>
            </a:lnSpc>
            <a:spcBef>
              <a:spcPct val="0"/>
            </a:spcBef>
            <a:spcAft>
              <a:spcPct val="35000"/>
            </a:spcAft>
            <a:buNone/>
          </a:pPr>
          <a:r>
            <a:rPr lang="en-SG" sz="1700" b="1" kern="1200"/>
            <a:t>Background: </a:t>
          </a:r>
          <a:r>
            <a:rPr lang="en-SG" sz="1700" kern="1200"/>
            <a:t>Republic Polytechnic students often rely on external platforms such as Carousell or Telegram groups to buy and sell second-hand items. These platforms are not designed specifically for RP students and present several challenges.</a:t>
          </a:r>
          <a:endParaRPr lang="en-US" sz="1700" kern="1200"/>
        </a:p>
      </dsp:txBody>
      <dsp:txXfrm>
        <a:off x="1456381" y="538"/>
        <a:ext cx="9488655" cy="1260936"/>
      </dsp:txXfrm>
    </dsp:sp>
    <dsp:sp modelId="{F27B5777-517A-4D4A-9540-092A287C102E}">
      <dsp:nvSpPr>
        <dsp:cNvPr id="0" name=""/>
        <dsp:cNvSpPr/>
      </dsp:nvSpPr>
      <dsp:spPr>
        <a:xfrm>
          <a:off x="0" y="1576708"/>
          <a:ext cx="10945037" cy="12609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516C3AA-7077-4323-B57E-8EDCD391CAAA}">
      <dsp:nvSpPr>
        <dsp:cNvPr id="0" name=""/>
        <dsp:cNvSpPr/>
      </dsp:nvSpPr>
      <dsp:spPr>
        <a:xfrm>
          <a:off x="381433" y="1860419"/>
          <a:ext cx="693514" cy="6935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64CCB83-BA45-4767-8B6B-664AC782D7A0}">
      <dsp:nvSpPr>
        <dsp:cNvPr id="0" name=""/>
        <dsp:cNvSpPr/>
      </dsp:nvSpPr>
      <dsp:spPr>
        <a:xfrm>
          <a:off x="1456381" y="1576708"/>
          <a:ext cx="4925266" cy="12609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449" tIns="133449" rIns="133449" bIns="133449" numCol="1" spcCol="1270" anchor="ctr" anchorCtr="0">
          <a:noAutofit/>
        </a:bodyPr>
        <a:lstStyle/>
        <a:p>
          <a:pPr marL="0" lvl="0" indent="0" algn="l" defTabSz="755650">
            <a:lnSpc>
              <a:spcPct val="90000"/>
            </a:lnSpc>
            <a:spcBef>
              <a:spcPct val="0"/>
            </a:spcBef>
            <a:spcAft>
              <a:spcPct val="35000"/>
            </a:spcAft>
            <a:buNone/>
          </a:pPr>
          <a:r>
            <a:rPr lang="en-SG" sz="1700" b="1" kern="1200"/>
            <a:t>Existing Problem:</a:t>
          </a:r>
          <a:endParaRPr lang="en-US" sz="1700" kern="1200"/>
        </a:p>
      </dsp:txBody>
      <dsp:txXfrm>
        <a:off x="1456381" y="1576708"/>
        <a:ext cx="4925266" cy="1260936"/>
      </dsp:txXfrm>
    </dsp:sp>
    <dsp:sp modelId="{2106547F-8759-4AB3-B355-C9420BB47E5E}">
      <dsp:nvSpPr>
        <dsp:cNvPr id="0" name=""/>
        <dsp:cNvSpPr/>
      </dsp:nvSpPr>
      <dsp:spPr>
        <a:xfrm>
          <a:off x="6381647" y="1576708"/>
          <a:ext cx="4563389" cy="12609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449" tIns="133449" rIns="133449" bIns="133449" numCol="1" spcCol="1270" anchor="ctr" anchorCtr="0">
          <a:noAutofit/>
        </a:bodyPr>
        <a:lstStyle/>
        <a:p>
          <a:pPr marL="0" lvl="0" indent="0" algn="l" defTabSz="533400">
            <a:lnSpc>
              <a:spcPct val="90000"/>
            </a:lnSpc>
            <a:spcBef>
              <a:spcPct val="0"/>
            </a:spcBef>
            <a:spcAft>
              <a:spcPct val="35000"/>
            </a:spcAft>
            <a:buNone/>
          </a:pPr>
          <a:r>
            <a:rPr lang="en-SG" sz="1200" kern="1200"/>
            <a:t>No verification that buyers and sellers are RP students</a:t>
          </a:r>
          <a:endParaRPr lang="en-US" sz="1200" kern="1200"/>
        </a:p>
        <a:p>
          <a:pPr marL="0" lvl="0" indent="0" algn="l" defTabSz="533400">
            <a:lnSpc>
              <a:spcPct val="90000"/>
            </a:lnSpc>
            <a:spcBef>
              <a:spcPct val="0"/>
            </a:spcBef>
            <a:spcAft>
              <a:spcPct val="35000"/>
            </a:spcAft>
            <a:buNone/>
          </a:pPr>
          <a:r>
            <a:rPr lang="en-SG" sz="1200" kern="1200"/>
            <a:t>Communication and transactions are handled outside the platform.</a:t>
          </a:r>
          <a:endParaRPr lang="en-US" sz="1200" kern="1200"/>
        </a:p>
        <a:p>
          <a:pPr marL="0" lvl="0" indent="0" algn="l" defTabSz="533400">
            <a:lnSpc>
              <a:spcPct val="90000"/>
            </a:lnSpc>
            <a:spcBef>
              <a:spcPct val="0"/>
            </a:spcBef>
            <a:spcAft>
              <a:spcPct val="35000"/>
            </a:spcAft>
            <a:buNone/>
          </a:pPr>
          <a:r>
            <a:rPr lang="en-SG" sz="1200" kern="1200"/>
            <a:t>Lack of a centralized marketplace dedicated to the RP community.</a:t>
          </a:r>
          <a:endParaRPr lang="en-US" sz="1200" kern="1200"/>
        </a:p>
      </dsp:txBody>
      <dsp:txXfrm>
        <a:off x="6381647" y="1576708"/>
        <a:ext cx="4563389" cy="1260936"/>
      </dsp:txXfrm>
    </dsp:sp>
    <dsp:sp modelId="{0E8B9AD1-E48C-455E-A22F-D446725371C9}">
      <dsp:nvSpPr>
        <dsp:cNvPr id="0" name=""/>
        <dsp:cNvSpPr/>
      </dsp:nvSpPr>
      <dsp:spPr>
        <a:xfrm>
          <a:off x="0" y="3152879"/>
          <a:ext cx="10945037" cy="12609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B384ED5-0018-4364-800A-9632A80B2CBD}">
      <dsp:nvSpPr>
        <dsp:cNvPr id="0" name=""/>
        <dsp:cNvSpPr/>
      </dsp:nvSpPr>
      <dsp:spPr>
        <a:xfrm>
          <a:off x="381433" y="3436589"/>
          <a:ext cx="693514" cy="6935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1829FF7-4241-435E-B65B-BA4F1879949A}">
      <dsp:nvSpPr>
        <dsp:cNvPr id="0" name=""/>
        <dsp:cNvSpPr/>
      </dsp:nvSpPr>
      <dsp:spPr>
        <a:xfrm>
          <a:off x="1456381" y="3152879"/>
          <a:ext cx="9488655" cy="12609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449" tIns="133449" rIns="133449" bIns="133449" numCol="1" spcCol="1270" anchor="ctr" anchorCtr="0">
          <a:noAutofit/>
        </a:bodyPr>
        <a:lstStyle/>
        <a:p>
          <a:pPr marL="0" lvl="0" indent="0" algn="l" defTabSz="755650">
            <a:lnSpc>
              <a:spcPct val="90000"/>
            </a:lnSpc>
            <a:spcBef>
              <a:spcPct val="0"/>
            </a:spcBef>
            <a:spcAft>
              <a:spcPct val="35000"/>
            </a:spcAft>
            <a:buNone/>
          </a:pPr>
          <a:r>
            <a:rPr lang="en-SG" sz="1700" b="1" kern="1200"/>
            <a:t>Proposed Solution: </a:t>
          </a:r>
          <a:r>
            <a:rPr lang="en-SG" sz="1700" kern="1200"/>
            <a:t>To address these issues, our team developed </a:t>
          </a:r>
          <a:r>
            <a:rPr lang="en-SG" sz="1700" b="1" kern="1200"/>
            <a:t>RP Marketplace</a:t>
          </a:r>
          <a:r>
            <a:rPr lang="en-SG" sz="1700" kern="1200"/>
            <a:t>, a web-based application exclusively for Republic Polytechnic students. The system allows verified students to securely buy and sell second-hand items while providing a structured and user-friendly marketplace.</a:t>
          </a:r>
          <a:endParaRPr lang="en-US" sz="1700" kern="1200"/>
        </a:p>
      </dsp:txBody>
      <dsp:txXfrm>
        <a:off x="1456381" y="3152879"/>
        <a:ext cx="9488655" cy="126093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3C83C6-FAB7-4E03-AA24-A48F57DDE2B1}" type="datetimeFigureOut">
              <a:rPr lang="en-SG" smtClean="0"/>
              <a:t>13/7/2026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3E03B2-08B2-429D-A760-BDBD4926F4B5}" type="slidenum">
              <a:rPr lang="en-SG" smtClean="0"/>
              <a:t>‹#›</a:t>
            </a:fld>
            <a:endParaRPr lang="en-SG"/>
          </a:p>
        </p:txBody>
      </p:sp>
    </p:spTree>
    <p:extLst>
      <p:ext uri="{BB962C8B-B14F-4D97-AF65-F5344CB8AC3E}">
        <p14:creationId xmlns:p14="http://schemas.microsoft.com/office/powerpoint/2010/main" val="35129431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fld id="{EA3E03B2-08B2-429D-A760-BDBD4926F4B5}" type="slidenum">
              <a:rPr lang="en-SG" smtClean="0"/>
              <a:t>4</a:t>
            </a:fld>
            <a:endParaRPr lang="en-SG"/>
          </a:p>
        </p:txBody>
      </p:sp>
    </p:spTree>
    <p:extLst>
      <p:ext uri="{BB962C8B-B14F-4D97-AF65-F5344CB8AC3E}">
        <p14:creationId xmlns:p14="http://schemas.microsoft.com/office/powerpoint/2010/main" val="17552305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7/13/2026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700376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7/13/2026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0833066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7/13/2026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2669302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7/13/2026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125997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7/13/2026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447188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7/13/2026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072837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7/13/2026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6806299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7/13/2026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336178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7/13/2026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256180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7/13/2026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781105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7/13/2026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207855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7/13/2026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89819897"/>
      </p:ext>
    </p:extLst>
  </p:cSld>
  <p:clrMap bg1="lt1" tx1="dk1" bg2="lt2" tx2="dk2" accent1="accent1" accent2="accent2" accent3="accent3" accent4="accent4" accent5="accent5" accent6="accent6" hlink="hlink" folHlink="folHlink"/>
  <p:sldLayoutIdLst>
    <p:sldLayoutId id="2147483749" r:id="rId1"/>
    <p:sldLayoutId id="2147483748" r:id="rId2"/>
    <p:sldLayoutId id="2147483747" r:id="rId3"/>
    <p:sldLayoutId id="2147483746" r:id="rId4"/>
    <p:sldLayoutId id="2147483745" r:id="rId5"/>
    <p:sldLayoutId id="2147483744" r:id="rId6"/>
    <p:sldLayoutId id="2147483743" r:id="rId7"/>
    <p:sldLayoutId id="2147483742" r:id="rId8"/>
    <p:sldLayoutId id="2147483741" r:id="rId9"/>
    <p:sldLayoutId id="2147483740" r:id="rId10"/>
    <p:sldLayoutId id="2147483739"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microsoft.com/office/2018/10/relationships/comments" Target="../comments/modernComment_102_4161B760.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microsoft.com/office/2018/10/relationships/comments" Target="../comments/modernComment_103_2868FA39.xml"/><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jpg"/></Relationships>
</file>

<file path=ppt/slides/_rels/slide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2.xml"/><Relationship Id="rId4" Type="http://schemas.openxmlformats.org/officeDocument/2006/relationships/image" Target="../media/image12.jpg"/></Relationships>
</file>

<file path=ppt/slides/_rels/slide8.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g"/><Relationship Id="rId2" Type="http://schemas.microsoft.com/office/2018/10/relationships/comments" Target="../comments/modernComment_106_AFDEA66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g"/><Relationship Id="rId2" Type="http://schemas.microsoft.com/office/2018/10/relationships/comments" Target="../comments/modernComment_107_6C95553E.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8.jpg"/><Relationship Id="rId2" Type="http://schemas.microsoft.com/office/2018/10/relationships/comments" Target="../comments/modernComment_109_3FB5B9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2.jpg"/><Relationship Id="rId2" Type="http://schemas.microsoft.com/office/2018/10/relationships/comments" Target="../comments/modernComment_10B_FC67EADE.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5.jpg"/><Relationship Id="rId2" Type="http://schemas.microsoft.com/office/2018/10/relationships/comments" Target="../comments/modernComment_10E_C32484E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26.jpg"/><Relationship Id="rId1" Type="http://schemas.openxmlformats.org/officeDocument/2006/relationships/slideLayout" Target="../slideLayouts/slideLayout2.xml"/><Relationship Id="rId4" Type="http://schemas.openxmlformats.org/officeDocument/2006/relationships/image" Target="../media/image28.jpg"/></Relationships>
</file>

<file path=ppt/slides/_rels/slide22.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0.jpg"/><Relationship Id="rId2" Type="http://schemas.microsoft.com/office/2018/10/relationships/comments" Target="../comments/modernComment_111_9023F5DE.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1.jpg"/><Relationship Id="rId2" Type="http://schemas.microsoft.com/office/2018/10/relationships/comments" Target="../comments/modernComment_112_DD2B80E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A32057F-F015-B1B2-4E3E-2307F8EFC9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B91A8A-9A01-B7C2-903C-5270BB5B8440}"/>
              </a:ext>
            </a:extLst>
          </p:cNvPr>
          <p:cNvSpPr>
            <a:spLocks noGrp="1"/>
          </p:cNvSpPr>
          <p:nvPr>
            <p:ph type="ctrTitle"/>
          </p:nvPr>
        </p:nvSpPr>
        <p:spPr>
          <a:xfrm>
            <a:off x="7168896" y="1129554"/>
            <a:ext cx="4361688" cy="3475236"/>
          </a:xfrm>
        </p:spPr>
        <p:txBody>
          <a:bodyPr>
            <a:normAutofit/>
          </a:bodyPr>
          <a:lstStyle/>
          <a:p>
            <a:pPr algn="l"/>
            <a:r>
              <a:rPr lang="en-SG" sz="5400"/>
              <a:t>C270 DevOps Essentials Project</a:t>
            </a:r>
          </a:p>
        </p:txBody>
      </p:sp>
      <p:sp>
        <p:nvSpPr>
          <p:cNvPr id="3" name="Subtitle 2">
            <a:extLst>
              <a:ext uri="{FF2B5EF4-FFF2-40B4-BE49-F238E27FC236}">
                <a16:creationId xmlns:a16="http://schemas.microsoft.com/office/drawing/2014/main" id="{5E86C626-6DB3-0E27-AF16-9E356C10B8F4}"/>
              </a:ext>
            </a:extLst>
          </p:cNvPr>
          <p:cNvSpPr>
            <a:spLocks noGrp="1"/>
          </p:cNvSpPr>
          <p:nvPr>
            <p:ph type="subTitle" idx="1"/>
          </p:nvPr>
        </p:nvSpPr>
        <p:spPr>
          <a:xfrm>
            <a:off x="7168896" y="4731337"/>
            <a:ext cx="4206240" cy="1184584"/>
          </a:xfrm>
        </p:spPr>
        <p:txBody>
          <a:bodyPr>
            <a:normAutofit/>
          </a:bodyPr>
          <a:lstStyle/>
          <a:p>
            <a:pPr algn="l">
              <a:lnSpc>
                <a:spcPct val="110000"/>
              </a:lnSpc>
            </a:pPr>
            <a:r>
              <a:rPr lang="en-SG" sz="1100"/>
              <a:t>RP Marketplace – DevOps Implementation using Git, Docker, Jenkins &amp; Ansible</a:t>
            </a:r>
          </a:p>
          <a:p>
            <a:pPr algn="l">
              <a:lnSpc>
                <a:spcPct val="110000"/>
              </a:lnSpc>
            </a:pPr>
            <a:endParaRPr lang="en-SG" sz="1100"/>
          </a:p>
          <a:p>
            <a:pPr algn="l">
              <a:lnSpc>
                <a:spcPct val="110000"/>
              </a:lnSpc>
            </a:pPr>
            <a:r>
              <a:rPr lang="en-SG" sz="1100"/>
              <a:t>Prepared by: Jason/Oliver/Thomas/Cecelia/Kaject</a:t>
            </a:r>
          </a:p>
        </p:txBody>
      </p:sp>
      <p:pic>
        <p:nvPicPr>
          <p:cNvPr id="4" name="Picture 3">
            <a:extLst>
              <a:ext uri="{FF2B5EF4-FFF2-40B4-BE49-F238E27FC236}">
                <a16:creationId xmlns:a16="http://schemas.microsoft.com/office/drawing/2014/main" id="{7FEF614A-0EC8-6FB0-E3C3-8A0A38AB8CCD}"/>
              </a:ext>
            </a:extLst>
          </p:cNvPr>
          <p:cNvPicPr>
            <a:picLocks noChangeAspect="1"/>
          </p:cNvPicPr>
          <p:nvPr/>
        </p:nvPicPr>
        <p:blipFill>
          <a:blip r:embed="rId2"/>
          <a:srcRect r="4118"/>
          <a:stretch>
            <a:fillRect/>
          </a:stretch>
        </p:blipFill>
        <p:spPr>
          <a:xfrm>
            <a:off x="20" y="1"/>
            <a:ext cx="6575591" cy="6858000"/>
          </a:xfrm>
          <a:prstGeom prst="rect">
            <a:avLst/>
          </a:prstGeom>
        </p:spPr>
      </p:pic>
    </p:spTree>
    <p:extLst>
      <p:ext uri="{BB962C8B-B14F-4D97-AF65-F5344CB8AC3E}">
        <p14:creationId xmlns:p14="http://schemas.microsoft.com/office/powerpoint/2010/main" val="3166408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7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53CF00F-82D0-0DBA-75D5-1D01B4526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0F000C-06E2-4994-6E42-D2F8584F3D19}"/>
              </a:ext>
            </a:extLst>
          </p:cNvPr>
          <p:cNvSpPr>
            <a:spLocks noGrp="1"/>
          </p:cNvSpPr>
          <p:nvPr>
            <p:ph type="title"/>
          </p:nvPr>
        </p:nvSpPr>
        <p:spPr>
          <a:xfrm>
            <a:off x="612648" y="548640"/>
            <a:ext cx="10945037" cy="1133856"/>
          </a:xfrm>
        </p:spPr>
        <p:txBody>
          <a:bodyPr anchor="t">
            <a:normAutofit/>
          </a:bodyPr>
          <a:lstStyle/>
          <a:p>
            <a:r>
              <a:rPr lang="en-SG"/>
              <a:t>Problem Statement</a:t>
            </a:r>
          </a:p>
        </p:txBody>
      </p:sp>
      <p:graphicFrame>
        <p:nvGraphicFramePr>
          <p:cNvPr id="5" name="Content Placeholder 2">
            <a:extLst>
              <a:ext uri="{FF2B5EF4-FFF2-40B4-BE49-F238E27FC236}">
                <a16:creationId xmlns:a16="http://schemas.microsoft.com/office/drawing/2014/main" id="{50185328-0D8E-877C-4618-4A5D55F89FBB}"/>
              </a:ext>
            </a:extLst>
          </p:cNvPr>
          <p:cNvGraphicFramePr>
            <a:graphicFrameLocks noGrp="1"/>
          </p:cNvGraphicFramePr>
          <p:nvPr>
            <p:ph idx="1"/>
            <p:extLst>
              <p:ext uri="{D42A27DB-BD31-4B8C-83A1-F6EECF244321}">
                <p14:modId xmlns:p14="http://schemas.microsoft.com/office/powerpoint/2010/main" val="397528164"/>
              </p:ext>
            </p:extLst>
          </p:nvPr>
        </p:nvGraphicFramePr>
        <p:xfrm>
          <a:off x="612648" y="1881051"/>
          <a:ext cx="10945037" cy="44143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7" name="TextBox 16">
            <a:extLst>
              <a:ext uri="{FF2B5EF4-FFF2-40B4-BE49-F238E27FC236}">
                <a16:creationId xmlns:a16="http://schemas.microsoft.com/office/drawing/2014/main" id="{4584F1CB-84B0-FF11-CCD2-DD978A548587}"/>
              </a:ext>
            </a:extLst>
          </p:cNvPr>
          <p:cNvSpPr txBox="1"/>
          <p:nvPr/>
        </p:nvSpPr>
        <p:spPr>
          <a:xfrm>
            <a:off x="11386437" y="209458"/>
            <a:ext cx="672156"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600"/>
              <a:t>CC</a:t>
            </a:r>
          </a:p>
        </p:txBody>
      </p:sp>
    </p:spTree>
    <p:extLst>
      <p:ext uri="{BB962C8B-B14F-4D97-AF65-F5344CB8AC3E}">
        <p14:creationId xmlns:p14="http://schemas.microsoft.com/office/powerpoint/2010/main" val="34336349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989C6-415B-FA34-B324-3C0A76167087}"/>
              </a:ext>
            </a:extLst>
          </p:cNvPr>
          <p:cNvSpPr>
            <a:spLocks noGrp="1"/>
          </p:cNvSpPr>
          <p:nvPr>
            <p:ph type="title"/>
          </p:nvPr>
        </p:nvSpPr>
        <p:spPr/>
        <p:txBody>
          <a:bodyPr/>
          <a:lstStyle/>
          <a:p>
            <a:r>
              <a:rPr lang="en-SG"/>
              <a:t>Visual for the PS</a:t>
            </a:r>
          </a:p>
        </p:txBody>
      </p:sp>
      <p:sp>
        <p:nvSpPr>
          <p:cNvPr id="3" name="Text Placeholder 2">
            <a:extLst>
              <a:ext uri="{FF2B5EF4-FFF2-40B4-BE49-F238E27FC236}">
                <a16:creationId xmlns:a16="http://schemas.microsoft.com/office/drawing/2014/main" id="{8A27D255-2CCB-C0C1-DCF2-98C2C404D0E6}"/>
              </a:ext>
            </a:extLst>
          </p:cNvPr>
          <p:cNvSpPr>
            <a:spLocks noGrp="1"/>
          </p:cNvSpPr>
          <p:nvPr>
            <p:ph type="body" idx="1"/>
          </p:nvPr>
        </p:nvSpPr>
        <p:spPr/>
        <p:txBody>
          <a:bodyPr/>
          <a:lstStyle/>
          <a:p>
            <a:r>
              <a:rPr lang="en-SG"/>
              <a:t>Existing Situation </a:t>
            </a:r>
          </a:p>
        </p:txBody>
      </p:sp>
      <p:sp>
        <p:nvSpPr>
          <p:cNvPr id="4" name="Content Placeholder 3">
            <a:extLst>
              <a:ext uri="{FF2B5EF4-FFF2-40B4-BE49-F238E27FC236}">
                <a16:creationId xmlns:a16="http://schemas.microsoft.com/office/drawing/2014/main" id="{31A663DD-7CE2-1B2E-AE9A-D3C2B5EC5C58}"/>
              </a:ext>
            </a:extLst>
          </p:cNvPr>
          <p:cNvSpPr>
            <a:spLocks noGrp="1"/>
          </p:cNvSpPr>
          <p:nvPr>
            <p:ph sz="half" idx="2"/>
          </p:nvPr>
        </p:nvSpPr>
        <p:spPr/>
        <p:txBody>
          <a:bodyPr/>
          <a:lstStyle/>
          <a:p>
            <a:r>
              <a:rPr lang="en-SG"/>
              <a:t>❌ Carousell </a:t>
            </a:r>
          </a:p>
          <a:p>
            <a:r>
              <a:rPr lang="en-SG"/>
              <a:t>Anyone can register</a:t>
            </a:r>
          </a:p>
          <a:p>
            <a:r>
              <a:rPr lang="en-SG"/>
              <a:t>General marketplace</a:t>
            </a:r>
          </a:p>
          <a:p>
            <a:r>
              <a:rPr lang="en-SG"/>
              <a:t>Scattered listings</a:t>
            </a:r>
          </a:p>
          <a:p>
            <a:r>
              <a:rPr lang="en-SG"/>
              <a:t>External communication</a:t>
            </a:r>
          </a:p>
        </p:txBody>
      </p:sp>
      <p:sp>
        <p:nvSpPr>
          <p:cNvPr id="5" name="Text Placeholder 4">
            <a:extLst>
              <a:ext uri="{FF2B5EF4-FFF2-40B4-BE49-F238E27FC236}">
                <a16:creationId xmlns:a16="http://schemas.microsoft.com/office/drawing/2014/main" id="{03EF3783-67D8-E065-ACE6-3DE469B3B2E5}"/>
              </a:ext>
            </a:extLst>
          </p:cNvPr>
          <p:cNvSpPr>
            <a:spLocks noGrp="1"/>
          </p:cNvSpPr>
          <p:nvPr>
            <p:ph type="body" sz="quarter" idx="3"/>
          </p:nvPr>
        </p:nvSpPr>
        <p:spPr/>
        <p:txBody>
          <a:bodyPr/>
          <a:lstStyle/>
          <a:p>
            <a:r>
              <a:rPr lang="en-SG"/>
              <a:t>Our Solution</a:t>
            </a:r>
          </a:p>
        </p:txBody>
      </p:sp>
      <p:sp>
        <p:nvSpPr>
          <p:cNvPr id="6" name="Content Placeholder 5">
            <a:extLst>
              <a:ext uri="{FF2B5EF4-FFF2-40B4-BE49-F238E27FC236}">
                <a16:creationId xmlns:a16="http://schemas.microsoft.com/office/drawing/2014/main" id="{51C73596-D771-92C1-7954-1D53FD4BB753}"/>
              </a:ext>
            </a:extLst>
          </p:cNvPr>
          <p:cNvSpPr>
            <a:spLocks noGrp="1"/>
          </p:cNvSpPr>
          <p:nvPr>
            <p:ph sz="quarter" idx="4"/>
          </p:nvPr>
        </p:nvSpPr>
        <p:spPr/>
        <p:txBody>
          <a:bodyPr/>
          <a:lstStyle/>
          <a:p>
            <a:r>
              <a:rPr lang="en-SG"/>
              <a:t>✅ RP Marketplace</a:t>
            </a:r>
          </a:p>
          <a:p>
            <a:r>
              <a:rPr lang="en-SG"/>
              <a:t>Only RP students</a:t>
            </a:r>
          </a:p>
          <a:p>
            <a:r>
              <a:rPr lang="en-SG"/>
              <a:t>RP community only</a:t>
            </a:r>
          </a:p>
          <a:p>
            <a:r>
              <a:rPr lang="en-SG"/>
              <a:t>Centralised listings</a:t>
            </a:r>
          </a:p>
          <a:p>
            <a:r>
              <a:rPr lang="en-SG"/>
              <a:t>Built-in marketplace</a:t>
            </a:r>
          </a:p>
        </p:txBody>
      </p:sp>
      <p:sp>
        <p:nvSpPr>
          <p:cNvPr id="8" name="TextBox 7">
            <a:extLst>
              <a:ext uri="{FF2B5EF4-FFF2-40B4-BE49-F238E27FC236}">
                <a16:creationId xmlns:a16="http://schemas.microsoft.com/office/drawing/2014/main" id="{7A0BC7AE-45E0-485D-F78B-BFF9312349D9}"/>
              </a:ext>
            </a:extLst>
          </p:cNvPr>
          <p:cNvSpPr txBox="1"/>
          <p:nvPr/>
        </p:nvSpPr>
        <p:spPr>
          <a:xfrm>
            <a:off x="11386437" y="209458"/>
            <a:ext cx="672156"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600"/>
              <a:t>CC</a:t>
            </a:r>
          </a:p>
        </p:txBody>
      </p:sp>
    </p:spTree>
    <p:extLst>
      <p:ext uri="{BB962C8B-B14F-4D97-AF65-F5344CB8AC3E}">
        <p14:creationId xmlns:p14="http://schemas.microsoft.com/office/powerpoint/2010/main" val="1096922976"/>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4F15B-2BAB-2CC8-67B3-B9A0F6A2E13E}"/>
              </a:ext>
            </a:extLst>
          </p:cNvPr>
          <p:cNvSpPr>
            <a:spLocks noGrp="1"/>
          </p:cNvSpPr>
          <p:nvPr>
            <p:ph type="title"/>
          </p:nvPr>
        </p:nvSpPr>
        <p:spPr/>
        <p:txBody>
          <a:bodyPr/>
          <a:lstStyle/>
          <a:p>
            <a:r>
              <a:rPr lang="en-SG"/>
              <a:t>Project Overview</a:t>
            </a:r>
          </a:p>
        </p:txBody>
      </p:sp>
      <p:sp>
        <p:nvSpPr>
          <p:cNvPr id="3" name="Content Placeholder 2">
            <a:extLst>
              <a:ext uri="{FF2B5EF4-FFF2-40B4-BE49-F238E27FC236}">
                <a16:creationId xmlns:a16="http://schemas.microsoft.com/office/drawing/2014/main" id="{76A57600-93AB-1405-F116-277CD7987311}"/>
              </a:ext>
            </a:extLst>
          </p:cNvPr>
          <p:cNvSpPr>
            <a:spLocks noGrp="1"/>
          </p:cNvSpPr>
          <p:nvPr>
            <p:ph idx="1"/>
          </p:nvPr>
        </p:nvSpPr>
        <p:spPr/>
        <p:txBody>
          <a:bodyPr/>
          <a:lstStyle/>
          <a:p>
            <a:r>
              <a:rPr lang="en-SG" b="1"/>
              <a:t>Objective</a:t>
            </a:r>
            <a:r>
              <a:rPr lang="en-SG"/>
              <a:t>: Develop a secure web application that enables Republic Polytechnic students to buy and sell second-hand items within the RP community while applying DevOps practices for automated deployment.</a:t>
            </a:r>
          </a:p>
        </p:txBody>
      </p:sp>
      <p:pic>
        <p:nvPicPr>
          <p:cNvPr id="5" name="Picture 4">
            <a:extLst>
              <a:ext uri="{FF2B5EF4-FFF2-40B4-BE49-F238E27FC236}">
                <a16:creationId xmlns:a16="http://schemas.microsoft.com/office/drawing/2014/main" id="{4BB6FAFD-4E66-6BA2-765B-37695377DBC5}"/>
              </a:ext>
            </a:extLst>
          </p:cNvPr>
          <p:cNvPicPr>
            <a:picLocks noChangeAspect="1"/>
          </p:cNvPicPr>
          <p:nvPr/>
        </p:nvPicPr>
        <p:blipFill>
          <a:blip r:embed="rId4"/>
          <a:stretch>
            <a:fillRect/>
          </a:stretch>
        </p:blipFill>
        <p:spPr>
          <a:xfrm>
            <a:off x="579177" y="2867025"/>
            <a:ext cx="5343525" cy="3562350"/>
          </a:xfrm>
          <a:prstGeom prst="rect">
            <a:avLst/>
          </a:prstGeom>
        </p:spPr>
      </p:pic>
      <p:pic>
        <p:nvPicPr>
          <p:cNvPr id="9" name="Picture 8">
            <a:extLst>
              <a:ext uri="{FF2B5EF4-FFF2-40B4-BE49-F238E27FC236}">
                <a16:creationId xmlns:a16="http://schemas.microsoft.com/office/drawing/2014/main" id="{A639E675-E7CE-1914-F0B0-E3F5C0347DF2}"/>
              </a:ext>
            </a:extLst>
          </p:cNvPr>
          <p:cNvPicPr>
            <a:picLocks noChangeAspect="1"/>
          </p:cNvPicPr>
          <p:nvPr/>
        </p:nvPicPr>
        <p:blipFill>
          <a:blip r:embed="rId5"/>
          <a:stretch>
            <a:fillRect/>
          </a:stretch>
        </p:blipFill>
        <p:spPr>
          <a:xfrm>
            <a:off x="5922702" y="2867026"/>
            <a:ext cx="5343524" cy="3562349"/>
          </a:xfrm>
          <a:prstGeom prst="rect">
            <a:avLst/>
          </a:prstGeom>
        </p:spPr>
      </p:pic>
      <p:sp>
        <p:nvSpPr>
          <p:cNvPr id="6" name="TextBox 5">
            <a:extLst>
              <a:ext uri="{FF2B5EF4-FFF2-40B4-BE49-F238E27FC236}">
                <a16:creationId xmlns:a16="http://schemas.microsoft.com/office/drawing/2014/main" id="{8605CF22-61ED-CC77-94AA-C4D2D50DC1EB}"/>
              </a:ext>
            </a:extLst>
          </p:cNvPr>
          <p:cNvSpPr txBox="1"/>
          <p:nvPr/>
        </p:nvSpPr>
        <p:spPr>
          <a:xfrm>
            <a:off x="11386437" y="209458"/>
            <a:ext cx="672156"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600"/>
              <a:t>Tho</a:t>
            </a:r>
          </a:p>
        </p:txBody>
      </p:sp>
    </p:spTree>
    <p:extLst>
      <p:ext uri="{BB962C8B-B14F-4D97-AF65-F5344CB8AC3E}">
        <p14:creationId xmlns:p14="http://schemas.microsoft.com/office/powerpoint/2010/main" val="677968441"/>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1CE63FA-05A0-4E78-63BA-DBAD8F5782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040" y="1173642"/>
            <a:ext cx="4765779" cy="4864608"/>
          </a:xfrm>
          <a:prstGeom prst="rect">
            <a:avLst/>
          </a:prstGeom>
        </p:spPr>
      </p:pic>
      <p:sp>
        <p:nvSpPr>
          <p:cNvPr id="2" name="TextBox 1">
            <a:extLst>
              <a:ext uri="{FF2B5EF4-FFF2-40B4-BE49-F238E27FC236}">
                <a16:creationId xmlns:a16="http://schemas.microsoft.com/office/drawing/2014/main" id="{87D5BA0A-DDA5-1AFC-2B48-632423DCBA25}"/>
              </a:ext>
            </a:extLst>
          </p:cNvPr>
          <p:cNvSpPr txBox="1"/>
          <p:nvPr/>
        </p:nvSpPr>
        <p:spPr>
          <a:xfrm>
            <a:off x="489022" y="448055"/>
            <a:ext cx="4260591" cy="461665"/>
          </a:xfrm>
          <a:prstGeom prst="rect">
            <a:avLst/>
          </a:prstGeom>
          <a:noFill/>
        </p:spPr>
        <p:txBody>
          <a:bodyPr wrap="square" rtlCol="0">
            <a:spAutoFit/>
          </a:bodyPr>
          <a:lstStyle/>
          <a:p>
            <a:r>
              <a:rPr lang="en-SG" sz="2400" b="1"/>
              <a:t>Jason Feature (Login)</a:t>
            </a:r>
          </a:p>
        </p:txBody>
      </p:sp>
      <p:pic>
        <p:nvPicPr>
          <p:cNvPr id="4" name="Picture 3">
            <a:extLst>
              <a:ext uri="{FF2B5EF4-FFF2-40B4-BE49-F238E27FC236}">
                <a16:creationId xmlns:a16="http://schemas.microsoft.com/office/drawing/2014/main" id="{CE668584-9D81-8351-B638-6129870C70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09413" y="1173642"/>
            <a:ext cx="6387313" cy="3797484"/>
          </a:xfrm>
          <a:prstGeom prst="rect">
            <a:avLst/>
          </a:prstGeom>
        </p:spPr>
      </p:pic>
      <p:sp>
        <p:nvSpPr>
          <p:cNvPr id="8" name="TextBox 7">
            <a:extLst>
              <a:ext uri="{FF2B5EF4-FFF2-40B4-BE49-F238E27FC236}">
                <a16:creationId xmlns:a16="http://schemas.microsoft.com/office/drawing/2014/main" id="{56F83DAB-4B22-0608-1CCE-2C0B9FCC54C8}"/>
              </a:ext>
            </a:extLst>
          </p:cNvPr>
          <p:cNvSpPr txBox="1"/>
          <p:nvPr/>
        </p:nvSpPr>
        <p:spPr>
          <a:xfrm>
            <a:off x="5484647" y="5133485"/>
            <a:ext cx="6387313" cy="830997"/>
          </a:xfrm>
          <a:prstGeom prst="rect">
            <a:avLst/>
          </a:prstGeom>
          <a:noFill/>
        </p:spPr>
        <p:txBody>
          <a:bodyPr wrap="square" rtlCol="0">
            <a:spAutoFit/>
          </a:bodyPr>
          <a:lstStyle/>
          <a:p>
            <a:r>
              <a:rPr lang="fr-FR" sz="2400"/>
              <a:t>Login </a:t>
            </a:r>
            <a:r>
              <a:rPr lang="fr-FR" sz="2400" err="1"/>
              <a:t>form</a:t>
            </a:r>
            <a:r>
              <a:rPr lang="fr-FR" sz="2400">
                <a:sym typeface="Wingdings" panose="05000000000000000000" pitchFamily="2" charset="2"/>
              </a:rPr>
              <a:t> </a:t>
            </a:r>
            <a:r>
              <a:rPr lang="fr-FR" sz="2400"/>
              <a:t>frontend/</a:t>
            </a:r>
            <a:r>
              <a:rPr lang="fr-FR" sz="2400" err="1"/>
              <a:t>templates</a:t>
            </a:r>
            <a:r>
              <a:rPr lang="fr-FR" sz="2400"/>
              <a:t>/user/login.html</a:t>
            </a:r>
            <a:endParaRPr lang="en-SG" sz="2400"/>
          </a:p>
        </p:txBody>
      </p:sp>
      <p:sp>
        <p:nvSpPr>
          <p:cNvPr id="6" name="TextBox 5">
            <a:extLst>
              <a:ext uri="{FF2B5EF4-FFF2-40B4-BE49-F238E27FC236}">
                <a16:creationId xmlns:a16="http://schemas.microsoft.com/office/drawing/2014/main" id="{A9F408B0-8C02-7B83-1FDF-E6F0E485C8E3}"/>
              </a:ext>
            </a:extLst>
          </p:cNvPr>
          <p:cNvSpPr txBox="1"/>
          <p:nvPr/>
        </p:nvSpPr>
        <p:spPr>
          <a:xfrm>
            <a:off x="11386437" y="209458"/>
            <a:ext cx="672156"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600"/>
              <a:t>Jas</a:t>
            </a:r>
          </a:p>
        </p:txBody>
      </p:sp>
    </p:spTree>
    <p:extLst>
      <p:ext uri="{BB962C8B-B14F-4D97-AF65-F5344CB8AC3E}">
        <p14:creationId xmlns:p14="http://schemas.microsoft.com/office/powerpoint/2010/main" val="6544782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38D6E09-98BD-37E6-438F-EA510316C412}"/>
              </a:ext>
            </a:extLst>
          </p:cNvPr>
          <p:cNvPicPr>
            <a:picLocks noChangeAspect="1"/>
          </p:cNvPicPr>
          <p:nvPr/>
        </p:nvPicPr>
        <p:blipFill>
          <a:blip r:embed="rId2"/>
          <a:stretch>
            <a:fillRect/>
          </a:stretch>
        </p:blipFill>
        <p:spPr>
          <a:xfrm>
            <a:off x="952500" y="0"/>
            <a:ext cx="10287000" cy="6858000"/>
          </a:xfrm>
          <a:prstGeom prst="rect">
            <a:avLst/>
          </a:prstGeom>
        </p:spPr>
      </p:pic>
      <p:sp>
        <p:nvSpPr>
          <p:cNvPr id="3" name="TextBox 2">
            <a:extLst>
              <a:ext uri="{FF2B5EF4-FFF2-40B4-BE49-F238E27FC236}">
                <a16:creationId xmlns:a16="http://schemas.microsoft.com/office/drawing/2014/main" id="{723EBF45-FEAB-FBE3-2FE4-B17A476374F6}"/>
              </a:ext>
            </a:extLst>
          </p:cNvPr>
          <p:cNvSpPr txBox="1"/>
          <p:nvPr/>
        </p:nvSpPr>
        <p:spPr>
          <a:xfrm>
            <a:off x="11386437" y="209458"/>
            <a:ext cx="672156"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600"/>
              <a:t>Jas</a:t>
            </a:r>
          </a:p>
        </p:txBody>
      </p:sp>
    </p:spTree>
    <p:extLst>
      <p:ext uri="{BB962C8B-B14F-4D97-AF65-F5344CB8AC3E}">
        <p14:creationId xmlns:p14="http://schemas.microsoft.com/office/powerpoint/2010/main" val="40290808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148F0-41D5-9944-6570-FC3770CBACD1}"/>
              </a:ext>
            </a:extLst>
          </p:cNvPr>
          <p:cNvSpPr>
            <a:spLocks noGrp="1"/>
          </p:cNvSpPr>
          <p:nvPr>
            <p:ph type="title"/>
          </p:nvPr>
        </p:nvSpPr>
        <p:spPr/>
        <p:txBody>
          <a:bodyPr/>
          <a:lstStyle/>
          <a:p>
            <a:r>
              <a:rPr lang="en-SG"/>
              <a:t>Jason Feature (Admin)</a:t>
            </a:r>
            <a:br>
              <a:rPr lang="en-SG"/>
            </a:br>
            <a:endParaRPr lang="en-SG"/>
          </a:p>
        </p:txBody>
      </p:sp>
      <p:pic>
        <p:nvPicPr>
          <p:cNvPr id="5" name="Picture 4">
            <a:extLst>
              <a:ext uri="{FF2B5EF4-FFF2-40B4-BE49-F238E27FC236}">
                <a16:creationId xmlns:a16="http://schemas.microsoft.com/office/drawing/2014/main" id="{3AC91DF9-055A-81A7-A670-84B70E1205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534" y="1284737"/>
            <a:ext cx="7142857" cy="3133333"/>
          </a:xfrm>
          <a:prstGeom prst="rect">
            <a:avLst/>
          </a:prstGeom>
        </p:spPr>
      </p:pic>
      <p:pic>
        <p:nvPicPr>
          <p:cNvPr id="7" name="Picture 6">
            <a:extLst>
              <a:ext uri="{FF2B5EF4-FFF2-40B4-BE49-F238E27FC236}">
                <a16:creationId xmlns:a16="http://schemas.microsoft.com/office/drawing/2014/main" id="{D938D580-E437-F7EC-5A49-63CBB2A914AC}"/>
              </a:ext>
            </a:extLst>
          </p:cNvPr>
          <p:cNvPicPr>
            <a:picLocks noChangeAspect="1"/>
          </p:cNvPicPr>
          <p:nvPr/>
        </p:nvPicPr>
        <p:blipFill>
          <a:blip r:embed="rId3"/>
          <a:stretch>
            <a:fillRect/>
          </a:stretch>
        </p:blipFill>
        <p:spPr>
          <a:xfrm>
            <a:off x="7544081" y="1284737"/>
            <a:ext cx="4163006" cy="1467055"/>
          </a:xfrm>
          <a:prstGeom prst="rect">
            <a:avLst/>
          </a:prstGeom>
        </p:spPr>
      </p:pic>
      <p:pic>
        <p:nvPicPr>
          <p:cNvPr id="9" name="Picture 8">
            <a:extLst>
              <a:ext uri="{FF2B5EF4-FFF2-40B4-BE49-F238E27FC236}">
                <a16:creationId xmlns:a16="http://schemas.microsoft.com/office/drawing/2014/main" id="{1D04180C-45BF-B75D-A0CE-EC2AB98C6056}"/>
              </a:ext>
            </a:extLst>
          </p:cNvPr>
          <p:cNvPicPr>
            <a:picLocks noChangeAspect="1"/>
          </p:cNvPicPr>
          <p:nvPr/>
        </p:nvPicPr>
        <p:blipFill>
          <a:blip r:embed="rId4"/>
          <a:stretch>
            <a:fillRect/>
          </a:stretch>
        </p:blipFill>
        <p:spPr>
          <a:xfrm>
            <a:off x="7494469" y="2851403"/>
            <a:ext cx="4262230" cy="3838575"/>
          </a:xfrm>
          <a:prstGeom prst="rect">
            <a:avLst/>
          </a:prstGeom>
        </p:spPr>
      </p:pic>
      <p:sp>
        <p:nvSpPr>
          <p:cNvPr id="4" name="TextBox 3">
            <a:extLst>
              <a:ext uri="{FF2B5EF4-FFF2-40B4-BE49-F238E27FC236}">
                <a16:creationId xmlns:a16="http://schemas.microsoft.com/office/drawing/2014/main" id="{664FD581-ECBC-1836-85A9-B1C8428F6BCB}"/>
              </a:ext>
            </a:extLst>
          </p:cNvPr>
          <p:cNvSpPr txBox="1"/>
          <p:nvPr/>
        </p:nvSpPr>
        <p:spPr>
          <a:xfrm>
            <a:off x="11386437" y="209458"/>
            <a:ext cx="672156"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600"/>
              <a:t>Jas</a:t>
            </a:r>
          </a:p>
        </p:txBody>
      </p:sp>
    </p:spTree>
    <p:extLst>
      <p:ext uri="{BB962C8B-B14F-4D97-AF65-F5344CB8AC3E}">
        <p14:creationId xmlns:p14="http://schemas.microsoft.com/office/powerpoint/2010/main" val="39336611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44153AC-6FC1-1B23-3A99-D536A03A40E5}"/>
              </a:ext>
            </a:extLst>
          </p:cNvPr>
          <p:cNvPicPr>
            <a:picLocks noChangeAspect="1"/>
          </p:cNvPicPr>
          <p:nvPr/>
        </p:nvPicPr>
        <p:blipFill>
          <a:blip r:embed="rId2"/>
          <a:stretch>
            <a:fillRect/>
          </a:stretch>
        </p:blipFill>
        <p:spPr>
          <a:xfrm>
            <a:off x="952500" y="0"/>
            <a:ext cx="10287000" cy="6858000"/>
          </a:xfrm>
          <a:prstGeom prst="rect">
            <a:avLst/>
          </a:prstGeom>
        </p:spPr>
      </p:pic>
      <p:sp>
        <p:nvSpPr>
          <p:cNvPr id="3" name="TextBox 2">
            <a:extLst>
              <a:ext uri="{FF2B5EF4-FFF2-40B4-BE49-F238E27FC236}">
                <a16:creationId xmlns:a16="http://schemas.microsoft.com/office/drawing/2014/main" id="{75D0E54C-2DAB-6A11-BE9F-6049B132F776}"/>
              </a:ext>
            </a:extLst>
          </p:cNvPr>
          <p:cNvSpPr txBox="1"/>
          <p:nvPr/>
        </p:nvSpPr>
        <p:spPr>
          <a:xfrm>
            <a:off x="11386437" y="209458"/>
            <a:ext cx="672156"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600"/>
              <a:t>Jas</a:t>
            </a:r>
          </a:p>
        </p:txBody>
      </p:sp>
    </p:spTree>
    <p:extLst>
      <p:ext uri="{BB962C8B-B14F-4D97-AF65-F5344CB8AC3E}">
        <p14:creationId xmlns:p14="http://schemas.microsoft.com/office/powerpoint/2010/main" val="40572186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22C69-0EEC-F653-E34A-19C14D8E3185}"/>
              </a:ext>
            </a:extLst>
          </p:cNvPr>
          <p:cNvSpPr>
            <a:spLocks noGrp="1"/>
          </p:cNvSpPr>
          <p:nvPr>
            <p:ph type="title"/>
          </p:nvPr>
        </p:nvSpPr>
        <p:spPr/>
        <p:txBody>
          <a:bodyPr/>
          <a:lstStyle/>
          <a:p>
            <a:r>
              <a:rPr lang="en-SG"/>
              <a:t>Git Branch Strategy &amp; Team Collaboration</a:t>
            </a:r>
          </a:p>
        </p:txBody>
      </p:sp>
      <p:sp>
        <p:nvSpPr>
          <p:cNvPr id="3" name="Content Placeholder 2">
            <a:extLst>
              <a:ext uri="{FF2B5EF4-FFF2-40B4-BE49-F238E27FC236}">
                <a16:creationId xmlns:a16="http://schemas.microsoft.com/office/drawing/2014/main" id="{9EFAF91A-6D9D-4481-7070-C964300C28F2}"/>
              </a:ext>
            </a:extLst>
          </p:cNvPr>
          <p:cNvSpPr>
            <a:spLocks noGrp="1"/>
          </p:cNvSpPr>
          <p:nvPr>
            <p:ph idx="1"/>
          </p:nvPr>
        </p:nvSpPr>
        <p:spPr>
          <a:xfrm>
            <a:off x="612647" y="1335024"/>
            <a:ext cx="10653579" cy="4974336"/>
          </a:xfrm>
        </p:spPr>
        <p:txBody>
          <a:bodyPr/>
          <a:lstStyle/>
          <a:p>
            <a:r>
              <a:rPr lang="en-SG" b="1"/>
              <a:t>Objective:</a:t>
            </a:r>
            <a:r>
              <a:rPr lang="en-SG"/>
              <a:t> To enable multiple team members to work on different features simultaneously while maintaining a stable and deployable codebase.</a:t>
            </a:r>
          </a:p>
        </p:txBody>
      </p:sp>
      <p:pic>
        <p:nvPicPr>
          <p:cNvPr id="5" name="Picture 4">
            <a:extLst>
              <a:ext uri="{FF2B5EF4-FFF2-40B4-BE49-F238E27FC236}">
                <a16:creationId xmlns:a16="http://schemas.microsoft.com/office/drawing/2014/main" id="{0678D9B0-5E2F-6BA9-551A-31F12FB1F1BE}"/>
              </a:ext>
            </a:extLst>
          </p:cNvPr>
          <p:cNvPicPr>
            <a:picLocks noChangeAspect="1"/>
          </p:cNvPicPr>
          <p:nvPr/>
        </p:nvPicPr>
        <p:blipFill>
          <a:blip r:embed="rId2"/>
          <a:stretch>
            <a:fillRect/>
          </a:stretch>
        </p:blipFill>
        <p:spPr>
          <a:xfrm>
            <a:off x="2171318" y="2127885"/>
            <a:ext cx="7064121" cy="4709414"/>
          </a:xfrm>
          <a:prstGeom prst="rect">
            <a:avLst/>
          </a:prstGeom>
        </p:spPr>
      </p:pic>
      <p:sp>
        <p:nvSpPr>
          <p:cNvPr id="4" name="TextBox 3">
            <a:extLst>
              <a:ext uri="{FF2B5EF4-FFF2-40B4-BE49-F238E27FC236}">
                <a16:creationId xmlns:a16="http://schemas.microsoft.com/office/drawing/2014/main" id="{9A9E85C5-B31C-260F-F195-47FBA7EB72FD}"/>
              </a:ext>
            </a:extLst>
          </p:cNvPr>
          <p:cNvSpPr txBox="1"/>
          <p:nvPr/>
        </p:nvSpPr>
        <p:spPr>
          <a:xfrm>
            <a:off x="10986341" y="265176"/>
            <a:ext cx="559769" cy="369332"/>
          </a:xfrm>
          <a:prstGeom prst="rect">
            <a:avLst/>
          </a:prstGeom>
          <a:noFill/>
        </p:spPr>
        <p:txBody>
          <a:bodyPr wrap="none" rtlCol="0">
            <a:spAutoFit/>
          </a:bodyPr>
          <a:lstStyle/>
          <a:p>
            <a:r>
              <a:rPr lang="en-SG"/>
              <a:t>Jas</a:t>
            </a:r>
          </a:p>
        </p:txBody>
      </p:sp>
    </p:spTree>
    <p:extLst>
      <p:ext uri="{BB962C8B-B14F-4D97-AF65-F5344CB8AC3E}">
        <p14:creationId xmlns:p14="http://schemas.microsoft.com/office/powerpoint/2010/main" val="1041836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C2366-08B4-428F-565F-E1163657F179}"/>
              </a:ext>
            </a:extLst>
          </p:cNvPr>
          <p:cNvSpPr>
            <a:spLocks noGrp="1"/>
          </p:cNvSpPr>
          <p:nvPr>
            <p:ph type="title"/>
          </p:nvPr>
        </p:nvSpPr>
        <p:spPr/>
        <p:txBody>
          <a:bodyPr/>
          <a:lstStyle/>
          <a:p>
            <a:r>
              <a:rPr lang="en-SG"/>
              <a:t>Team Contribution for Features.</a:t>
            </a:r>
          </a:p>
        </p:txBody>
      </p:sp>
      <p:graphicFrame>
        <p:nvGraphicFramePr>
          <p:cNvPr id="4" name="Content Placeholder 3">
            <a:extLst>
              <a:ext uri="{FF2B5EF4-FFF2-40B4-BE49-F238E27FC236}">
                <a16:creationId xmlns:a16="http://schemas.microsoft.com/office/drawing/2014/main" id="{ECF6D7DB-0B0A-FE47-3C96-75680BB8C881}"/>
              </a:ext>
            </a:extLst>
          </p:cNvPr>
          <p:cNvGraphicFramePr>
            <a:graphicFrameLocks noGrp="1"/>
          </p:cNvGraphicFramePr>
          <p:nvPr>
            <p:ph idx="1"/>
            <p:extLst>
              <p:ext uri="{D42A27DB-BD31-4B8C-83A1-F6EECF244321}">
                <p14:modId xmlns:p14="http://schemas.microsoft.com/office/powerpoint/2010/main" val="1816935297"/>
              </p:ext>
            </p:extLst>
          </p:nvPr>
        </p:nvGraphicFramePr>
        <p:xfrm>
          <a:off x="612775" y="1716088"/>
          <a:ext cx="10653712" cy="2225040"/>
        </p:xfrm>
        <a:graphic>
          <a:graphicData uri="http://schemas.openxmlformats.org/drawingml/2006/table">
            <a:tbl>
              <a:tblPr firstRow="1" bandRow="1">
                <a:tableStyleId>{5C22544A-7EE6-4342-B048-85BDC9FD1C3A}</a:tableStyleId>
              </a:tblPr>
              <a:tblGrid>
                <a:gridCol w="5326856">
                  <a:extLst>
                    <a:ext uri="{9D8B030D-6E8A-4147-A177-3AD203B41FA5}">
                      <a16:colId xmlns:a16="http://schemas.microsoft.com/office/drawing/2014/main" val="934699586"/>
                    </a:ext>
                  </a:extLst>
                </a:gridCol>
                <a:gridCol w="5326856">
                  <a:extLst>
                    <a:ext uri="{9D8B030D-6E8A-4147-A177-3AD203B41FA5}">
                      <a16:colId xmlns:a16="http://schemas.microsoft.com/office/drawing/2014/main" val="1421488436"/>
                    </a:ext>
                  </a:extLst>
                </a:gridCol>
              </a:tblGrid>
              <a:tr h="370840">
                <a:tc>
                  <a:txBody>
                    <a:bodyPr/>
                    <a:lstStyle/>
                    <a:p>
                      <a:r>
                        <a:rPr lang="en-SG"/>
                        <a:t>Name:</a:t>
                      </a:r>
                    </a:p>
                  </a:txBody>
                  <a:tcPr/>
                </a:tc>
                <a:tc>
                  <a:txBody>
                    <a:bodyPr/>
                    <a:lstStyle/>
                    <a:p>
                      <a:r>
                        <a:rPr lang="en-SG"/>
                        <a:t>Feature</a:t>
                      </a:r>
                    </a:p>
                  </a:txBody>
                  <a:tcPr/>
                </a:tc>
                <a:extLst>
                  <a:ext uri="{0D108BD9-81ED-4DB2-BD59-A6C34878D82A}">
                    <a16:rowId xmlns:a16="http://schemas.microsoft.com/office/drawing/2014/main" val="1128741787"/>
                  </a:ext>
                </a:extLst>
              </a:tr>
              <a:tr h="370840">
                <a:tc>
                  <a:txBody>
                    <a:bodyPr/>
                    <a:lstStyle/>
                    <a:p>
                      <a:r>
                        <a:rPr lang="en-SG"/>
                        <a:t>Jason</a:t>
                      </a:r>
                    </a:p>
                  </a:txBody>
                  <a:tcPr/>
                </a:tc>
                <a:tc>
                  <a:txBody>
                    <a:bodyPr/>
                    <a:lstStyle/>
                    <a:p>
                      <a:r>
                        <a:rPr lang="en-SG"/>
                        <a:t>Login, Admin, Seller Request</a:t>
                      </a:r>
                    </a:p>
                  </a:txBody>
                  <a:tcPr/>
                </a:tc>
                <a:extLst>
                  <a:ext uri="{0D108BD9-81ED-4DB2-BD59-A6C34878D82A}">
                    <a16:rowId xmlns:a16="http://schemas.microsoft.com/office/drawing/2014/main" val="3530138009"/>
                  </a:ext>
                </a:extLst>
              </a:tr>
              <a:tr h="370840">
                <a:tc>
                  <a:txBody>
                    <a:bodyPr/>
                    <a:lstStyle/>
                    <a:p>
                      <a:r>
                        <a:rPr lang="en-SG"/>
                        <a:t>Oliver</a:t>
                      </a:r>
                    </a:p>
                  </a:txBody>
                  <a:tcPr/>
                </a:tc>
                <a:tc>
                  <a:txBody>
                    <a:bodyPr/>
                    <a:lstStyle/>
                    <a:p>
                      <a:r>
                        <a:rPr lang="en-SG"/>
                        <a:t>Seller Dashboard</a:t>
                      </a:r>
                    </a:p>
                  </a:txBody>
                  <a:tcPr/>
                </a:tc>
                <a:extLst>
                  <a:ext uri="{0D108BD9-81ED-4DB2-BD59-A6C34878D82A}">
                    <a16:rowId xmlns:a16="http://schemas.microsoft.com/office/drawing/2014/main" val="3236254555"/>
                  </a:ext>
                </a:extLst>
              </a:tr>
              <a:tr h="370840">
                <a:tc>
                  <a:txBody>
                    <a:bodyPr/>
                    <a:lstStyle/>
                    <a:p>
                      <a:r>
                        <a:rPr lang="en-SG"/>
                        <a:t>Cecelia</a:t>
                      </a:r>
                    </a:p>
                  </a:txBody>
                  <a:tcPr/>
                </a:tc>
                <a:tc>
                  <a:txBody>
                    <a:bodyPr/>
                    <a:lstStyle/>
                    <a:p>
                      <a:r>
                        <a:rPr lang="en-SG"/>
                        <a:t>Contact Seller Chat</a:t>
                      </a:r>
                    </a:p>
                  </a:txBody>
                  <a:tcPr/>
                </a:tc>
                <a:extLst>
                  <a:ext uri="{0D108BD9-81ED-4DB2-BD59-A6C34878D82A}">
                    <a16:rowId xmlns:a16="http://schemas.microsoft.com/office/drawing/2014/main" val="2534405449"/>
                  </a:ext>
                </a:extLst>
              </a:tr>
              <a:tr h="370840">
                <a:tc>
                  <a:txBody>
                    <a:bodyPr/>
                    <a:lstStyle/>
                    <a:p>
                      <a:r>
                        <a:rPr lang="en-SG"/>
                        <a:t>Thomas</a:t>
                      </a:r>
                    </a:p>
                  </a:txBody>
                  <a:tcPr/>
                </a:tc>
                <a:tc>
                  <a:txBody>
                    <a:bodyPr/>
                    <a:lstStyle/>
                    <a:p>
                      <a:r>
                        <a:rPr lang="en-SG"/>
                        <a:t>Browse Marketplace</a:t>
                      </a:r>
                    </a:p>
                  </a:txBody>
                  <a:tcPr/>
                </a:tc>
                <a:extLst>
                  <a:ext uri="{0D108BD9-81ED-4DB2-BD59-A6C34878D82A}">
                    <a16:rowId xmlns:a16="http://schemas.microsoft.com/office/drawing/2014/main" val="1882613081"/>
                  </a:ext>
                </a:extLst>
              </a:tr>
              <a:tr h="370840">
                <a:tc>
                  <a:txBody>
                    <a:bodyPr/>
                    <a:lstStyle/>
                    <a:p>
                      <a:r>
                        <a:rPr lang="en-SG" err="1"/>
                        <a:t>Kajet</a:t>
                      </a:r>
                      <a:endParaRPr lang="en-SG"/>
                    </a:p>
                  </a:txBody>
                  <a:tcPr/>
                </a:tc>
                <a:tc>
                  <a:txBody>
                    <a:bodyPr/>
                    <a:lstStyle/>
                    <a:p>
                      <a:r>
                        <a:rPr lang="en-SG"/>
                        <a:t>Wishlist</a:t>
                      </a:r>
                    </a:p>
                  </a:txBody>
                  <a:tcPr/>
                </a:tc>
                <a:extLst>
                  <a:ext uri="{0D108BD9-81ED-4DB2-BD59-A6C34878D82A}">
                    <a16:rowId xmlns:a16="http://schemas.microsoft.com/office/drawing/2014/main" val="850543523"/>
                  </a:ext>
                </a:extLst>
              </a:tr>
            </a:tbl>
          </a:graphicData>
        </a:graphic>
      </p:graphicFrame>
      <p:sp>
        <p:nvSpPr>
          <p:cNvPr id="5" name="TextBox 4">
            <a:extLst>
              <a:ext uri="{FF2B5EF4-FFF2-40B4-BE49-F238E27FC236}">
                <a16:creationId xmlns:a16="http://schemas.microsoft.com/office/drawing/2014/main" id="{41857EE2-C7AD-4CA6-92FF-957C6CE6394C}"/>
              </a:ext>
            </a:extLst>
          </p:cNvPr>
          <p:cNvSpPr txBox="1"/>
          <p:nvPr/>
        </p:nvSpPr>
        <p:spPr>
          <a:xfrm>
            <a:off x="11386437" y="209458"/>
            <a:ext cx="672156"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600"/>
              <a:t>Jas</a:t>
            </a:r>
          </a:p>
        </p:txBody>
      </p:sp>
    </p:spTree>
    <p:extLst>
      <p:ext uri="{BB962C8B-B14F-4D97-AF65-F5344CB8AC3E}">
        <p14:creationId xmlns:p14="http://schemas.microsoft.com/office/powerpoint/2010/main" val="359463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8C6B0DEA-CBE5-B82A-2592-E5049DA3E794}"/>
              </a:ext>
            </a:extLst>
          </p:cNvPr>
          <p:cNvPicPr>
            <a:picLocks noChangeAspect="1"/>
          </p:cNvPicPr>
          <p:nvPr/>
        </p:nvPicPr>
        <p:blipFill>
          <a:blip r:embed="rId3"/>
          <a:stretch>
            <a:fillRect/>
          </a:stretch>
        </p:blipFill>
        <p:spPr>
          <a:xfrm>
            <a:off x="2839039" y="0"/>
            <a:ext cx="6513922" cy="6858000"/>
          </a:xfrm>
          <a:prstGeom prst="rect">
            <a:avLst/>
          </a:prstGeom>
        </p:spPr>
      </p:pic>
      <p:sp>
        <p:nvSpPr>
          <p:cNvPr id="3" name="TextBox 2">
            <a:extLst>
              <a:ext uri="{FF2B5EF4-FFF2-40B4-BE49-F238E27FC236}">
                <a16:creationId xmlns:a16="http://schemas.microsoft.com/office/drawing/2014/main" id="{3A66DB21-6101-D3E0-2E92-3057BEC8B826}"/>
              </a:ext>
            </a:extLst>
          </p:cNvPr>
          <p:cNvSpPr txBox="1"/>
          <p:nvPr/>
        </p:nvSpPr>
        <p:spPr>
          <a:xfrm>
            <a:off x="11386437" y="209458"/>
            <a:ext cx="672156"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600"/>
              <a:t>Jas</a:t>
            </a:r>
          </a:p>
        </p:txBody>
      </p:sp>
    </p:spTree>
    <p:extLst>
      <p:ext uri="{BB962C8B-B14F-4D97-AF65-F5344CB8AC3E}">
        <p14:creationId xmlns:p14="http://schemas.microsoft.com/office/powerpoint/2010/main" val="2950604388"/>
      </p:ext>
    </p:extLst>
  </p:cSld>
  <p:clrMapOvr>
    <a:masterClrMapping/>
  </p:clrMapOvr>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C3AD8-D1C4-8CE4-3145-B82F4378434A}"/>
              </a:ext>
            </a:extLst>
          </p:cNvPr>
          <p:cNvSpPr>
            <a:spLocks noGrp="1"/>
          </p:cNvSpPr>
          <p:nvPr>
            <p:ph type="title"/>
          </p:nvPr>
        </p:nvSpPr>
        <p:spPr/>
        <p:txBody>
          <a:bodyPr/>
          <a:lstStyle/>
          <a:p>
            <a:r>
              <a:rPr lang="en-SG"/>
              <a:t>Docker Containerisation</a:t>
            </a:r>
          </a:p>
        </p:txBody>
      </p:sp>
      <p:sp>
        <p:nvSpPr>
          <p:cNvPr id="3" name="Content Placeholder 2">
            <a:extLst>
              <a:ext uri="{FF2B5EF4-FFF2-40B4-BE49-F238E27FC236}">
                <a16:creationId xmlns:a16="http://schemas.microsoft.com/office/drawing/2014/main" id="{1722BDC2-9BD1-C8A0-A0C7-1CC547B5BF0C}"/>
              </a:ext>
            </a:extLst>
          </p:cNvPr>
          <p:cNvSpPr>
            <a:spLocks noGrp="1"/>
          </p:cNvSpPr>
          <p:nvPr>
            <p:ph idx="1"/>
          </p:nvPr>
        </p:nvSpPr>
        <p:spPr>
          <a:xfrm>
            <a:off x="612647" y="1715532"/>
            <a:ext cx="10653579" cy="1132258"/>
          </a:xfrm>
        </p:spPr>
        <p:txBody>
          <a:bodyPr>
            <a:normAutofit lnSpcReduction="10000"/>
          </a:bodyPr>
          <a:lstStyle/>
          <a:p>
            <a:r>
              <a:rPr lang="en-SG" b="1"/>
              <a:t>Purpose</a:t>
            </a:r>
            <a:r>
              <a:rPr lang="en-SG"/>
              <a:t>: Docker packages the RP Marketplace application together with all its dependencies into a portable container, ensuring the application runs consistently across different environments.</a:t>
            </a:r>
          </a:p>
        </p:txBody>
      </p:sp>
      <p:pic>
        <p:nvPicPr>
          <p:cNvPr id="5" name="Picture 4">
            <a:extLst>
              <a:ext uri="{FF2B5EF4-FFF2-40B4-BE49-F238E27FC236}">
                <a16:creationId xmlns:a16="http://schemas.microsoft.com/office/drawing/2014/main" id="{B4B4606E-5EBE-00E1-1EEE-6977DD0242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2647" y="3021970"/>
            <a:ext cx="10428571" cy="990476"/>
          </a:xfrm>
          <a:prstGeom prst="rect">
            <a:avLst/>
          </a:prstGeom>
        </p:spPr>
      </p:pic>
      <p:sp>
        <p:nvSpPr>
          <p:cNvPr id="6" name="Content Placeholder 2">
            <a:extLst>
              <a:ext uri="{FF2B5EF4-FFF2-40B4-BE49-F238E27FC236}">
                <a16:creationId xmlns:a16="http://schemas.microsoft.com/office/drawing/2014/main" id="{1DFDDE75-6C0B-3A09-A387-46A602CE0053}"/>
              </a:ext>
            </a:extLst>
          </p:cNvPr>
          <p:cNvSpPr txBox="1">
            <a:spLocks/>
          </p:cNvSpPr>
          <p:nvPr/>
        </p:nvSpPr>
        <p:spPr>
          <a:xfrm>
            <a:off x="500142" y="4186626"/>
            <a:ext cx="10653579" cy="1132258"/>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SG"/>
              <a:t>Ports Columns: 0.0.0.0:5000 </a:t>
            </a:r>
            <a:r>
              <a:rPr lang="en-SG">
                <a:sym typeface="Wingdings" panose="05000000000000000000" pitchFamily="2" charset="2"/>
              </a:rPr>
              <a:t> 80/</a:t>
            </a:r>
            <a:r>
              <a:rPr lang="en-SG" err="1">
                <a:sym typeface="Wingdings" panose="05000000000000000000" pitchFamily="2" charset="2"/>
              </a:rPr>
              <a:t>tcp</a:t>
            </a:r>
            <a:endParaRPr lang="en-SG">
              <a:sym typeface="Wingdings" panose="05000000000000000000" pitchFamily="2" charset="2"/>
            </a:endParaRPr>
          </a:p>
          <a:p>
            <a:r>
              <a:rPr lang="en-SG">
                <a:sym typeface="Wingdings" panose="05000000000000000000" pitchFamily="2" charset="2"/>
              </a:rPr>
              <a:t>Means?  This container use Port Mapping. It binds port 5000 on the actual computer (host) to port 80 inside the Docker container</a:t>
            </a:r>
            <a:endParaRPr lang="en-SG"/>
          </a:p>
        </p:txBody>
      </p:sp>
      <p:sp>
        <p:nvSpPr>
          <p:cNvPr id="7" name="TextBox 6">
            <a:extLst>
              <a:ext uri="{FF2B5EF4-FFF2-40B4-BE49-F238E27FC236}">
                <a16:creationId xmlns:a16="http://schemas.microsoft.com/office/drawing/2014/main" id="{84BFE1E6-6F80-6E52-2CA2-778A378A297C}"/>
              </a:ext>
            </a:extLst>
          </p:cNvPr>
          <p:cNvSpPr txBox="1"/>
          <p:nvPr/>
        </p:nvSpPr>
        <p:spPr>
          <a:xfrm>
            <a:off x="11386437" y="209458"/>
            <a:ext cx="672156"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600"/>
              <a:t>Oli</a:t>
            </a:r>
          </a:p>
        </p:txBody>
      </p:sp>
    </p:spTree>
    <p:extLst>
      <p:ext uri="{BB962C8B-B14F-4D97-AF65-F5344CB8AC3E}">
        <p14:creationId xmlns:p14="http://schemas.microsoft.com/office/powerpoint/2010/main" val="1821726014"/>
      </p:ext>
    </p:extLst>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A627803-5FE2-4425-349E-C21D03C43B3E}"/>
              </a:ext>
            </a:extLst>
          </p:cNvPr>
          <p:cNvPicPr>
            <a:picLocks noChangeAspect="1"/>
          </p:cNvPicPr>
          <p:nvPr/>
        </p:nvPicPr>
        <p:blipFill>
          <a:blip r:embed="rId2"/>
          <a:stretch>
            <a:fillRect/>
          </a:stretch>
        </p:blipFill>
        <p:spPr>
          <a:xfrm>
            <a:off x="970788" y="12192"/>
            <a:ext cx="10250424" cy="6833616"/>
          </a:xfrm>
          <a:prstGeom prst="rect">
            <a:avLst/>
          </a:prstGeom>
        </p:spPr>
      </p:pic>
      <p:sp>
        <p:nvSpPr>
          <p:cNvPr id="4" name="TextBox 3">
            <a:extLst>
              <a:ext uri="{FF2B5EF4-FFF2-40B4-BE49-F238E27FC236}">
                <a16:creationId xmlns:a16="http://schemas.microsoft.com/office/drawing/2014/main" id="{AE90D97B-7D4C-BE8C-87D7-61648C8DD4AC}"/>
              </a:ext>
            </a:extLst>
          </p:cNvPr>
          <p:cNvSpPr txBox="1"/>
          <p:nvPr/>
        </p:nvSpPr>
        <p:spPr>
          <a:xfrm>
            <a:off x="11386437" y="209458"/>
            <a:ext cx="672156"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600"/>
              <a:t>Oli</a:t>
            </a:r>
          </a:p>
        </p:txBody>
      </p:sp>
    </p:spTree>
    <p:extLst>
      <p:ext uri="{BB962C8B-B14F-4D97-AF65-F5344CB8AC3E}">
        <p14:creationId xmlns:p14="http://schemas.microsoft.com/office/powerpoint/2010/main" val="11770132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4679B-26A1-C4B9-A84A-088DDF93FDA3}"/>
              </a:ext>
            </a:extLst>
          </p:cNvPr>
          <p:cNvSpPr>
            <a:spLocks noGrp="1"/>
          </p:cNvSpPr>
          <p:nvPr>
            <p:ph type="title"/>
          </p:nvPr>
        </p:nvSpPr>
        <p:spPr/>
        <p:txBody>
          <a:bodyPr/>
          <a:lstStyle/>
          <a:p>
            <a:r>
              <a:rPr lang="en-SG"/>
              <a:t>Jenkins CI/CD Pipeline</a:t>
            </a:r>
          </a:p>
        </p:txBody>
      </p:sp>
      <p:sp>
        <p:nvSpPr>
          <p:cNvPr id="3" name="Content Placeholder 2">
            <a:extLst>
              <a:ext uri="{FF2B5EF4-FFF2-40B4-BE49-F238E27FC236}">
                <a16:creationId xmlns:a16="http://schemas.microsoft.com/office/drawing/2014/main" id="{B8B89ED0-F2A2-A9A3-5414-C2DAC0B07E6A}"/>
              </a:ext>
            </a:extLst>
          </p:cNvPr>
          <p:cNvSpPr>
            <a:spLocks noGrp="1"/>
          </p:cNvSpPr>
          <p:nvPr>
            <p:ph idx="1"/>
          </p:nvPr>
        </p:nvSpPr>
        <p:spPr>
          <a:xfrm>
            <a:off x="612647" y="1349772"/>
            <a:ext cx="10653579" cy="1274556"/>
          </a:xfrm>
        </p:spPr>
        <p:txBody>
          <a:bodyPr>
            <a:normAutofit/>
          </a:bodyPr>
          <a:lstStyle/>
          <a:p>
            <a:pPr marL="0" indent="0">
              <a:buNone/>
            </a:pPr>
            <a:r>
              <a:rPr lang="en-SG" b="1"/>
              <a:t>Purpose: </a:t>
            </a:r>
            <a:r>
              <a:rPr lang="en-SG"/>
              <a:t>Jenkins automates the build and deployment process whenever code is merged into the repository, eliminating manual deployment and ensuring a consistent workflow.</a:t>
            </a:r>
          </a:p>
          <a:p>
            <a:pPr marL="0" indent="0">
              <a:buNone/>
            </a:pPr>
            <a:endParaRPr lang="en-SG"/>
          </a:p>
        </p:txBody>
      </p:sp>
      <p:pic>
        <p:nvPicPr>
          <p:cNvPr id="9" name="Picture 8">
            <a:extLst>
              <a:ext uri="{FF2B5EF4-FFF2-40B4-BE49-F238E27FC236}">
                <a16:creationId xmlns:a16="http://schemas.microsoft.com/office/drawing/2014/main" id="{CBAD90E9-2E15-FF07-A7DE-B22E7E497D91}"/>
              </a:ext>
            </a:extLst>
          </p:cNvPr>
          <p:cNvPicPr>
            <a:picLocks noChangeAspect="1"/>
          </p:cNvPicPr>
          <p:nvPr/>
        </p:nvPicPr>
        <p:blipFill>
          <a:blip r:embed="rId3"/>
          <a:stretch>
            <a:fillRect/>
          </a:stretch>
        </p:blipFill>
        <p:spPr>
          <a:xfrm>
            <a:off x="2305049" y="2178050"/>
            <a:ext cx="7143751" cy="4679950"/>
          </a:xfrm>
          <a:prstGeom prst="rect">
            <a:avLst/>
          </a:prstGeom>
        </p:spPr>
      </p:pic>
      <p:sp>
        <p:nvSpPr>
          <p:cNvPr id="5" name="TextBox 4">
            <a:extLst>
              <a:ext uri="{FF2B5EF4-FFF2-40B4-BE49-F238E27FC236}">
                <a16:creationId xmlns:a16="http://schemas.microsoft.com/office/drawing/2014/main" id="{3F849083-6494-D808-3CEF-DBE645274FA2}"/>
              </a:ext>
            </a:extLst>
          </p:cNvPr>
          <p:cNvSpPr txBox="1"/>
          <p:nvPr/>
        </p:nvSpPr>
        <p:spPr>
          <a:xfrm>
            <a:off x="11386437" y="209458"/>
            <a:ext cx="672156"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600"/>
              <a:t>Jas</a:t>
            </a:r>
          </a:p>
        </p:txBody>
      </p:sp>
    </p:spTree>
    <p:extLst>
      <p:ext uri="{BB962C8B-B14F-4D97-AF65-F5344CB8AC3E}">
        <p14:creationId xmlns:p14="http://schemas.microsoft.com/office/powerpoint/2010/main" val="1068874000"/>
      </p:ext>
    </p:extLst>
  </p:cSld>
  <p:clrMapOvr>
    <a:masterClrMapping/>
  </p:clrMapOvr>
  <p:extLst>
    <p:ext uri="{6950BFC3-D8DA-4A85-94F7-54DA5524770B}">
      <p188:commentRel xmlns:p188="http://schemas.microsoft.com/office/powerpoint/2018/8/main" r:id="rId2"/>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C7AB9DB-F799-B5CE-0D3D-837E845560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788" y="92965"/>
            <a:ext cx="4174028" cy="4522651"/>
          </a:xfrm>
          <a:prstGeom prst="rect">
            <a:avLst/>
          </a:prstGeom>
        </p:spPr>
      </p:pic>
      <p:pic>
        <p:nvPicPr>
          <p:cNvPr id="5" name="Picture 4">
            <a:extLst>
              <a:ext uri="{FF2B5EF4-FFF2-40B4-BE49-F238E27FC236}">
                <a16:creationId xmlns:a16="http://schemas.microsoft.com/office/drawing/2014/main" id="{FD15AC35-FD8C-25D3-910F-DEA2F31372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82512" y="0"/>
            <a:ext cx="5809488" cy="4297680"/>
          </a:xfrm>
          <a:prstGeom prst="rect">
            <a:avLst/>
          </a:prstGeom>
        </p:spPr>
      </p:pic>
      <p:sp>
        <p:nvSpPr>
          <p:cNvPr id="6" name="TextBox 5">
            <a:extLst>
              <a:ext uri="{FF2B5EF4-FFF2-40B4-BE49-F238E27FC236}">
                <a16:creationId xmlns:a16="http://schemas.microsoft.com/office/drawing/2014/main" id="{A2EC9E8E-E23A-E136-B33E-6D753D3511B9}"/>
              </a:ext>
            </a:extLst>
          </p:cNvPr>
          <p:cNvSpPr txBox="1"/>
          <p:nvPr/>
        </p:nvSpPr>
        <p:spPr>
          <a:xfrm>
            <a:off x="265176" y="4615616"/>
            <a:ext cx="5266944" cy="2308324"/>
          </a:xfrm>
          <a:prstGeom prst="rect">
            <a:avLst/>
          </a:prstGeom>
          <a:noFill/>
        </p:spPr>
        <p:txBody>
          <a:bodyPr wrap="square" rtlCol="0">
            <a:spAutoFit/>
          </a:bodyPr>
          <a:lstStyle/>
          <a:p>
            <a:r>
              <a:rPr lang="en-SG"/>
              <a:t>RPMarketplace-Staging</a:t>
            </a:r>
          </a:p>
          <a:p>
            <a:r>
              <a:rPr lang="en-SG"/>
              <a:t>Take a example of #38</a:t>
            </a:r>
          </a:p>
          <a:p>
            <a:pPr marL="342900" indent="-342900">
              <a:buAutoNum type="arabicPeriod"/>
            </a:pPr>
            <a:r>
              <a:rPr lang="en-SG" b="1"/>
              <a:t>Checkout SCM </a:t>
            </a:r>
            <a:r>
              <a:rPr lang="en-SG"/>
              <a:t>(Command used to clone or download the source code</a:t>
            </a:r>
          </a:p>
          <a:p>
            <a:pPr marL="342900" indent="-342900">
              <a:buAutoNum type="arabicPeriod"/>
            </a:pPr>
            <a:r>
              <a:rPr lang="en-SG" b="1"/>
              <a:t>Checkout Source Code</a:t>
            </a:r>
          </a:p>
          <a:p>
            <a:pPr marL="342900" indent="-342900">
              <a:buAutoNum type="arabicPeriod"/>
            </a:pPr>
            <a:r>
              <a:rPr lang="en-SG" b="1"/>
              <a:t>Deploy to Staging with Ansible</a:t>
            </a:r>
          </a:p>
          <a:p>
            <a:pPr marL="342900" indent="-342900">
              <a:buAutoNum type="arabicPeriod"/>
            </a:pPr>
            <a:r>
              <a:rPr lang="en-SG" b="1"/>
              <a:t>Post Action </a:t>
            </a:r>
            <a:r>
              <a:rPr lang="en-SG"/>
              <a:t>(A block of step that execute automatically after a pipeline finishes)</a:t>
            </a:r>
          </a:p>
        </p:txBody>
      </p:sp>
      <p:sp>
        <p:nvSpPr>
          <p:cNvPr id="8" name="TextBox 7">
            <a:extLst>
              <a:ext uri="{FF2B5EF4-FFF2-40B4-BE49-F238E27FC236}">
                <a16:creationId xmlns:a16="http://schemas.microsoft.com/office/drawing/2014/main" id="{83FBF639-0DCC-8010-48D1-92F630E2EDBE}"/>
              </a:ext>
            </a:extLst>
          </p:cNvPr>
          <p:cNvSpPr txBox="1"/>
          <p:nvPr/>
        </p:nvSpPr>
        <p:spPr>
          <a:xfrm>
            <a:off x="6096000" y="4061618"/>
            <a:ext cx="6027212" cy="2862322"/>
          </a:xfrm>
          <a:prstGeom prst="rect">
            <a:avLst/>
          </a:prstGeom>
          <a:noFill/>
        </p:spPr>
        <p:txBody>
          <a:bodyPr wrap="square" rtlCol="0">
            <a:spAutoFit/>
          </a:bodyPr>
          <a:lstStyle/>
          <a:p>
            <a:r>
              <a:rPr lang="en-SG"/>
              <a:t>RPMarketplace-Production</a:t>
            </a:r>
          </a:p>
          <a:p>
            <a:r>
              <a:rPr lang="en-SG"/>
              <a:t>Take a example of #7</a:t>
            </a:r>
          </a:p>
          <a:p>
            <a:pPr marL="342900" indent="-342900">
              <a:buAutoNum type="arabicPeriod"/>
            </a:pPr>
            <a:r>
              <a:rPr lang="en-SG" b="1"/>
              <a:t>Checkout SCM </a:t>
            </a:r>
            <a:r>
              <a:rPr lang="en-SG"/>
              <a:t>(Command used to clone or download the source code</a:t>
            </a:r>
          </a:p>
          <a:p>
            <a:pPr marL="342900" indent="-342900">
              <a:buAutoNum type="arabicPeriod"/>
            </a:pPr>
            <a:r>
              <a:rPr lang="en-SG" b="1"/>
              <a:t>Checkout Source Code</a:t>
            </a:r>
          </a:p>
          <a:p>
            <a:pPr marL="342900" indent="-342900">
              <a:buAutoNum type="arabicPeriod"/>
            </a:pPr>
            <a:r>
              <a:rPr lang="en-SG" b="1"/>
              <a:t>Deploy to Production </a:t>
            </a:r>
            <a:r>
              <a:rPr lang="en-SG"/>
              <a:t>(releasing to user)</a:t>
            </a:r>
          </a:p>
          <a:p>
            <a:pPr marL="342900" indent="-342900">
              <a:buAutoNum type="arabicPeriod"/>
            </a:pPr>
            <a:r>
              <a:rPr lang="en-SG" b="1"/>
              <a:t>Confirm Production URL </a:t>
            </a:r>
            <a:r>
              <a:rPr lang="en-SG"/>
              <a:t>(testing, verifying, approving)</a:t>
            </a:r>
          </a:p>
          <a:p>
            <a:pPr marL="342900" indent="-342900">
              <a:buAutoNum type="arabicPeriod"/>
            </a:pPr>
            <a:r>
              <a:rPr lang="en-SG" b="1"/>
              <a:t>Post Action </a:t>
            </a:r>
            <a:r>
              <a:rPr lang="en-SG"/>
              <a:t>(A block of step that execute automatically after a pipeline finishes)</a:t>
            </a:r>
          </a:p>
        </p:txBody>
      </p:sp>
      <p:sp>
        <p:nvSpPr>
          <p:cNvPr id="4" name="TextBox 3">
            <a:extLst>
              <a:ext uri="{FF2B5EF4-FFF2-40B4-BE49-F238E27FC236}">
                <a16:creationId xmlns:a16="http://schemas.microsoft.com/office/drawing/2014/main" id="{5DC8FDCC-F11E-A458-EB8D-A60A9F26A8D7}"/>
              </a:ext>
            </a:extLst>
          </p:cNvPr>
          <p:cNvSpPr txBox="1"/>
          <p:nvPr/>
        </p:nvSpPr>
        <p:spPr>
          <a:xfrm>
            <a:off x="11386437" y="209458"/>
            <a:ext cx="672156"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600"/>
              <a:t>Jas</a:t>
            </a:r>
          </a:p>
        </p:txBody>
      </p:sp>
    </p:spTree>
    <p:extLst>
      <p:ext uri="{BB962C8B-B14F-4D97-AF65-F5344CB8AC3E}">
        <p14:creationId xmlns:p14="http://schemas.microsoft.com/office/powerpoint/2010/main" val="40529501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6BA3B34-366A-CF0F-2BD8-EA3A163BD8B6}"/>
              </a:ext>
            </a:extLst>
          </p:cNvPr>
          <p:cNvPicPr>
            <a:picLocks noChangeAspect="1"/>
          </p:cNvPicPr>
          <p:nvPr/>
        </p:nvPicPr>
        <p:blipFill>
          <a:blip r:embed="rId2"/>
          <a:stretch>
            <a:fillRect/>
          </a:stretch>
        </p:blipFill>
        <p:spPr>
          <a:xfrm>
            <a:off x="952500" y="0"/>
            <a:ext cx="10287000" cy="6858000"/>
          </a:xfrm>
          <a:prstGeom prst="rect">
            <a:avLst/>
          </a:prstGeom>
        </p:spPr>
      </p:pic>
      <p:sp>
        <p:nvSpPr>
          <p:cNvPr id="2" name="TextBox 1">
            <a:extLst>
              <a:ext uri="{FF2B5EF4-FFF2-40B4-BE49-F238E27FC236}">
                <a16:creationId xmlns:a16="http://schemas.microsoft.com/office/drawing/2014/main" id="{D7EFD406-D974-8CE3-3959-01706980F6E8}"/>
              </a:ext>
            </a:extLst>
          </p:cNvPr>
          <p:cNvSpPr txBox="1"/>
          <p:nvPr/>
        </p:nvSpPr>
        <p:spPr>
          <a:xfrm>
            <a:off x="11386437" y="209458"/>
            <a:ext cx="672156"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600"/>
              <a:t>Jas</a:t>
            </a:r>
          </a:p>
        </p:txBody>
      </p:sp>
    </p:spTree>
    <p:extLst>
      <p:ext uri="{BB962C8B-B14F-4D97-AF65-F5344CB8AC3E}">
        <p14:creationId xmlns:p14="http://schemas.microsoft.com/office/powerpoint/2010/main" val="4231004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F77E0A2-BE8E-6CCD-8755-70BAABB24EF9}"/>
              </a:ext>
            </a:extLst>
          </p:cNvPr>
          <p:cNvPicPr>
            <a:picLocks noChangeAspect="1"/>
          </p:cNvPicPr>
          <p:nvPr/>
        </p:nvPicPr>
        <p:blipFill>
          <a:blip r:embed="rId3"/>
          <a:stretch>
            <a:fillRect/>
          </a:stretch>
        </p:blipFill>
        <p:spPr>
          <a:xfrm>
            <a:off x="923925" y="-19050"/>
            <a:ext cx="10344150" cy="6896100"/>
          </a:xfrm>
          <a:prstGeom prst="rect">
            <a:avLst/>
          </a:prstGeom>
        </p:spPr>
      </p:pic>
      <p:sp>
        <p:nvSpPr>
          <p:cNvPr id="3" name="TextBox 2">
            <a:extLst>
              <a:ext uri="{FF2B5EF4-FFF2-40B4-BE49-F238E27FC236}">
                <a16:creationId xmlns:a16="http://schemas.microsoft.com/office/drawing/2014/main" id="{3A3A37BD-3144-C054-43AA-A2E4CBBC4D4B}"/>
              </a:ext>
            </a:extLst>
          </p:cNvPr>
          <p:cNvSpPr txBox="1"/>
          <p:nvPr/>
        </p:nvSpPr>
        <p:spPr>
          <a:xfrm>
            <a:off x="11386437" y="209458"/>
            <a:ext cx="672156"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600"/>
              <a:t>Jas</a:t>
            </a:r>
          </a:p>
        </p:txBody>
      </p:sp>
    </p:spTree>
    <p:extLst>
      <p:ext uri="{BB962C8B-B14F-4D97-AF65-F5344CB8AC3E}">
        <p14:creationId xmlns:p14="http://schemas.microsoft.com/office/powerpoint/2010/main" val="4234668766"/>
      </p:ext>
    </p:extLst>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F12C0B6-19BD-B082-6355-F67BD98AF0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81000"/>
            <a:ext cx="12192000" cy="6096000"/>
          </a:xfrm>
          <a:prstGeom prst="rect">
            <a:avLst/>
          </a:prstGeom>
        </p:spPr>
      </p:pic>
    </p:spTree>
    <p:extLst>
      <p:ext uri="{BB962C8B-B14F-4D97-AF65-F5344CB8AC3E}">
        <p14:creationId xmlns:p14="http://schemas.microsoft.com/office/powerpoint/2010/main" val="20881494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C741BB2-D3EE-BA2C-DDD1-76DA2D6E05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76250"/>
            <a:ext cx="12192000" cy="5903127"/>
          </a:xfrm>
          <a:prstGeom prst="rect">
            <a:avLst/>
          </a:prstGeom>
        </p:spPr>
      </p:pic>
    </p:spTree>
    <p:extLst>
      <p:ext uri="{BB962C8B-B14F-4D97-AF65-F5344CB8AC3E}">
        <p14:creationId xmlns:p14="http://schemas.microsoft.com/office/powerpoint/2010/main" val="5765381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CFB0216-4B4E-27D3-679F-40C0C13FF672}"/>
              </a:ext>
            </a:extLst>
          </p:cNvPr>
          <p:cNvPicPr>
            <a:picLocks noChangeAspect="1"/>
          </p:cNvPicPr>
          <p:nvPr/>
        </p:nvPicPr>
        <p:blipFill>
          <a:blip r:embed="rId3"/>
          <a:stretch>
            <a:fillRect/>
          </a:stretch>
        </p:blipFill>
        <p:spPr>
          <a:xfrm>
            <a:off x="952500" y="0"/>
            <a:ext cx="10287000" cy="6858000"/>
          </a:xfrm>
          <a:prstGeom prst="rect">
            <a:avLst/>
          </a:prstGeom>
        </p:spPr>
      </p:pic>
      <p:sp>
        <p:nvSpPr>
          <p:cNvPr id="3" name="TextBox 2">
            <a:extLst>
              <a:ext uri="{FF2B5EF4-FFF2-40B4-BE49-F238E27FC236}">
                <a16:creationId xmlns:a16="http://schemas.microsoft.com/office/drawing/2014/main" id="{758E5A8F-B6F0-86C7-7E7F-2098B7B1D869}"/>
              </a:ext>
            </a:extLst>
          </p:cNvPr>
          <p:cNvSpPr txBox="1"/>
          <p:nvPr/>
        </p:nvSpPr>
        <p:spPr>
          <a:xfrm>
            <a:off x="11386437" y="209458"/>
            <a:ext cx="672156"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600"/>
              <a:t>Hak</a:t>
            </a:r>
          </a:p>
        </p:txBody>
      </p:sp>
    </p:spTree>
    <p:extLst>
      <p:ext uri="{BB962C8B-B14F-4D97-AF65-F5344CB8AC3E}">
        <p14:creationId xmlns:p14="http://schemas.microsoft.com/office/powerpoint/2010/main" val="3273950435"/>
      </p:ext>
    </p:extLst>
  </p:cSld>
  <p:clrMapOvr>
    <a:masterClrMapping/>
  </p:clrMapOvr>
  <p:extLst>
    <p:ext uri="{6950BFC3-D8DA-4A85-94F7-54DA5524770B}">
      <p188:commentRel xmlns:p188="http://schemas.microsoft.com/office/powerpoint/2018/8/main" r:id="rId2"/>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5732B-2454-A314-AA6B-5FE592A00DF6}"/>
              </a:ext>
            </a:extLst>
          </p:cNvPr>
          <p:cNvSpPr>
            <a:spLocks noGrp="1"/>
          </p:cNvSpPr>
          <p:nvPr>
            <p:ph type="title"/>
          </p:nvPr>
        </p:nvSpPr>
        <p:spPr/>
        <p:txBody>
          <a:bodyPr/>
          <a:lstStyle/>
          <a:p>
            <a:r>
              <a:rPr lang="en-SG"/>
              <a:t>Evidence that it runs</a:t>
            </a:r>
          </a:p>
        </p:txBody>
      </p:sp>
      <p:pic>
        <p:nvPicPr>
          <p:cNvPr id="5" name="Picture 4">
            <a:extLst>
              <a:ext uri="{FF2B5EF4-FFF2-40B4-BE49-F238E27FC236}">
                <a16:creationId xmlns:a16="http://schemas.microsoft.com/office/drawing/2014/main" id="{C22F8568-168F-7F43-6BA5-BABDBE2229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82949"/>
            <a:ext cx="12192000" cy="1056293"/>
          </a:xfrm>
          <a:prstGeom prst="rect">
            <a:avLst/>
          </a:prstGeom>
        </p:spPr>
      </p:pic>
      <p:pic>
        <p:nvPicPr>
          <p:cNvPr id="7" name="Picture 6">
            <a:extLst>
              <a:ext uri="{FF2B5EF4-FFF2-40B4-BE49-F238E27FC236}">
                <a16:creationId xmlns:a16="http://schemas.microsoft.com/office/drawing/2014/main" id="{E84FCB43-649F-1301-E222-79E0FC1936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2416" y="2439242"/>
            <a:ext cx="5367552" cy="4342793"/>
          </a:xfrm>
          <a:prstGeom prst="rect">
            <a:avLst/>
          </a:prstGeom>
        </p:spPr>
      </p:pic>
      <p:pic>
        <p:nvPicPr>
          <p:cNvPr id="9" name="Picture 8">
            <a:extLst>
              <a:ext uri="{FF2B5EF4-FFF2-40B4-BE49-F238E27FC236}">
                <a16:creationId xmlns:a16="http://schemas.microsoft.com/office/drawing/2014/main" id="{AC1A6573-AFC4-8651-4248-B9932548055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54220" y="2439242"/>
            <a:ext cx="4674846" cy="4418758"/>
          </a:xfrm>
          <a:prstGeom prst="rect">
            <a:avLst/>
          </a:prstGeom>
        </p:spPr>
      </p:pic>
      <p:sp>
        <p:nvSpPr>
          <p:cNvPr id="4" name="TextBox 3">
            <a:extLst>
              <a:ext uri="{FF2B5EF4-FFF2-40B4-BE49-F238E27FC236}">
                <a16:creationId xmlns:a16="http://schemas.microsoft.com/office/drawing/2014/main" id="{8B6C4163-51E5-3B94-7F42-A60A36B992CC}"/>
              </a:ext>
            </a:extLst>
          </p:cNvPr>
          <p:cNvSpPr txBox="1"/>
          <p:nvPr/>
        </p:nvSpPr>
        <p:spPr>
          <a:xfrm>
            <a:off x="11386437" y="209458"/>
            <a:ext cx="672156"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600"/>
              <a:t>Hak</a:t>
            </a:r>
          </a:p>
        </p:txBody>
      </p:sp>
    </p:spTree>
    <p:extLst>
      <p:ext uri="{BB962C8B-B14F-4D97-AF65-F5344CB8AC3E}">
        <p14:creationId xmlns:p14="http://schemas.microsoft.com/office/powerpoint/2010/main" val="13715773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CA7A4D1-D2FE-CF3D-6900-72C4BAD277A3}"/>
              </a:ext>
            </a:extLst>
          </p:cNvPr>
          <p:cNvPicPr>
            <a:picLocks noChangeAspect="1"/>
          </p:cNvPicPr>
          <p:nvPr/>
        </p:nvPicPr>
        <p:blipFill>
          <a:blip r:embed="rId2"/>
          <a:stretch>
            <a:fillRect/>
          </a:stretch>
        </p:blipFill>
        <p:spPr>
          <a:xfrm>
            <a:off x="952500" y="0"/>
            <a:ext cx="10287000" cy="6858000"/>
          </a:xfrm>
          <a:prstGeom prst="rect">
            <a:avLst/>
          </a:prstGeom>
        </p:spPr>
      </p:pic>
      <p:sp>
        <p:nvSpPr>
          <p:cNvPr id="4" name="TextBox 3">
            <a:extLst>
              <a:ext uri="{FF2B5EF4-FFF2-40B4-BE49-F238E27FC236}">
                <a16:creationId xmlns:a16="http://schemas.microsoft.com/office/drawing/2014/main" id="{30ABF14C-F6F6-0038-DFDC-A707FBF777B4}"/>
              </a:ext>
            </a:extLst>
          </p:cNvPr>
          <p:cNvSpPr txBox="1"/>
          <p:nvPr/>
        </p:nvSpPr>
        <p:spPr>
          <a:xfrm>
            <a:off x="11386437" y="209458"/>
            <a:ext cx="672156"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600"/>
              <a:t>Kaj</a:t>
            </a:r>
          </a:p>
        </p:txBody>
      </p:sp>
    </p:spTree>
    <p:extLst>
      <p:ext uri="{BB962C8B-B14F-4D97-AF65-F5344CB8AC3E}">
        <p14:creationId xmlns:p14="http://schemas.microsoft.com/office/powerpoint/2010/main" val="26821591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F0190D8-F7AC-4A07-95D0-6C378BEA9481}"/>
              </a:ext>
            </a:extLst>
          </p:cNvPr>
          <p:cNvPicPr>
            <a:picLocks noChangeAspect="1"/>
          </p:cNvPicPr>
          <p:nvPr/>
        </p:nvPicPr>
        <p:blipFill>
          <a:blip r:embed="rId3"/>
          <a:stretch>
            <a:fillRect/>
          </a:stretch>
        </p:blipFill>
        <p:spPr>
          <a:xfrm>
            <a:off x="952500" y="0"/>
            <a:ext cx="10287000" cy="6858000"/>
          </a:xfrm>
          <a:prstGeom prst="rect">
            <a:avLst/>
          </a:prstGeom>
        </p:spPr>
      </p:pic>
      <p:sp>
        <p:nvSpPr>
          <p:cNvPr id="3" name="TextBox 2">
            <a:extLst>
              <a:ext uri="{FF2B5EF4-FFF2-40B4-BE49-F238E27FC236}">
                <a16:creationId xmlns:a16="http://schemas.microsoft.com/office/drawing/2014/main" id="{A2FE81B5-049B-CEF2-A7F8-7D95C7FA0B0C}"/>
              </a:ext>
            </a:extLst>
          </p:cNvPr>
          <p:cNvSpPr txBox="1"/>
          <p:nvPr/>
        </p:nvSpPr>
        <p:spPr>
          <a:xfrm>
            <a:off x="11386437" y="209458"/>
            <a:ext cx="672156"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600"/>
              <a:t>CC</a:t>
            </a:r>
          </a:p>
        </p:txBody>
      </p:sp>
    </p:spTree>
    <p:extLst>
      <p:ext uri="{BB962C8B-B14F-4D97-AF65-F5344CB8AC3E}">
        <p14:creationId xmlns:p14="http://schemas.microsoft.com/office/powerpoint/2010/main" val="2418275806"/>
      </p:ext>
    </p:extLst>
  </p:cSld>
  <p:clrMapOvr>
    <a:masterClrMapping/>
  </p:clrMapOvr>
  <p:extLst>
    <p:ext uri="{6950BFC3-D8DA-4A85-94F7-54DA5524770B}">
      <p188:commentRel xmlns:p188="http://schemas.microsoft.com/office/powerpoint/2018/8/main" r:id="rId2"/>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6127857-D8CA-A168-AE82-ECBB0B97B6F2}"/>
              </a:ext>
            </a:extLst>
          </p:cNvPr>
          <p:cNvPicPr>
            <a:picLocks noChangeAspect="1"/>
          </p:cNvPicPr>
          <p:nvPr/>
        </p:nvPicPr>
        <p:blipFill>
          <a:blip r:embed="rId3"/>
          <a:stretch>
            <a:fillRect/>
          </a:stretch>
        </p:blipFill>
        <p:spPr>
          <a:xfrm>
            <a:off x="952500" y="0"/>
            <a:ext cx="10287000" cy="6858000"/>
          </a:xfrm>
          <a:prstGeom prst="rect">
            <a:avLst/>
          </a:prstGeom>
        </p:spPr>
      </p:pic>
      <p:sp>
        <p:nvSpPr>
          <p:cNvPr id="3" name="TextBox 2">
            <a:extLst>
              <a:ext uri="{FF2B5EF4-FFF2-40B4-BE49-F238E27FC236}">
                <a16:creationId xmlns:a16="http://schemas.microsoft.com/office/drawing/2014/main" id="{873737EC-B4A7-46E5-12D4-C392EA5190FF}"/>
              </a:ext>
            </a:extLst>
          </p:cNvPr>
          <p:cNvSpPr txBox="1"/>
          <p:nvPr/>
        </p:nvSpPr>
        <p:spPr>
          <a:xfrm>
            <a:off x="11386437" y="209458"/>
            <a:ext cx="672156"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600"/>
              <a:t>Jas</a:t>
            </a:r>
          </a:p>
        </p:txBody>
      </p:sp>
    </p:spTree>
    <p:extLst>
      <p:ext uri="{BB962C8B-B14F-4D97-AF65-F5344CB8AC3E}">
        <p14:creationId xmlns:p14="http://schemas.microsoft.com/office/powerpoint/2010/main" val="3710615780"/>
      </p:ext>
    </p:extLst>
  </p:cSld>
  <p:clrMapOvr>
    <a:masterClrMapping/>
  </p:clrMapOvr>
  <p:extLst>
    <p:ext uri="{6950BFC3-D8DA-4A85-94F7-54DA5524770B}">
      <p188:commentRel xmlns:p188="http://schemas.microsoft.com/office/powerpoint/2018/8/main" r:id="rId2"/>
    </p:ext>
  </p:extLs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CE539-192A-186A-2CFF-00AC2FBF5615}"/>
              </a:ext>
            </a:extLst>
          </p:cNvPr>
          <p:cNvSpPr>
            <a:spLocks noGrp="1"/>
          </p:cNvSpPr>
          <p:nvPr>
            <p:ph type="title"/>
          </p:nvPr>
        </p:nvSpPr>
        <p:spPr/>
        <p:txBody>
          <a:bodyPr/>
          <a:lstStyle/>
          <a:p>
            <a:r>
              <a:rPr lang="en-SG"/>
              <a:t>Conclusion &amp; Lessons Learned</a:t>
            </a:r>
          </a:p>
        </p:txBody>
      </p:sp>
      <p:pic>
        <p:nvPicPr>
          <p:cNvPr id="5" name="Picture 4">
            <a:extLst>
              <a:ext uri="{FF2B5EF4-FFF2-40B4-BE49-F238E27FC236}">
                <a16:creationId xmlns:a16="http://schemas.microsoft.com/office/drawing/2014/main" id="{E13BE79E-A8BD-DED1-15AC-55C3ADFA352F}"/>
              </a:ext>
            </a:extLst>
          </p:cNvPr>
          <p:cNvPicPr>
            <a:picLocks noChangeAspect="1"/>
          </p:cNvPicPr>
          <p:nvPr/>
        </p:nvPicPr>
        <p:blipFill>
          <a:blip r:embed="rId2"/>
          <a:stretch>
            <a:fillRect/>
          </a:stretch>
        </p:blipFill>
        <p:spPr>
          <a:xfrm>
            <a:off x="1453895" y="1114769"/>
            <a:ext cx="8614847" cy="5743231"/>
          </a:xfrm>
          <a:prstGeom prst="rect">
            <a:avLst/>
          </a:prstGeom>
        </p:spPr>
      </p:pic>
      <p:sp>
        <p:nvSpPr>
          <p:cNvPr id="4" name="TextBox 3">
            <a:extLst>
              <a:ext uri="{FF2B5EF4-FFF2-40B4-BE49-F238E27FC236}">
                <a16:creationId xmlns:a16="http://schemas.microsoft.com/office/drawing/2014/main" id="{4994B7D9-0A4C-8A54-B14C-D4DFF08E9BB8}"/>
              </a:ext>
            </a:extLst>
          </p:cNvPr>
          <p:cNvSpPr txBox="1"/>
          <p:nvPr/>
        </p:nvSpPr>
        <p:spPr>
          <a:xfrm>
            <a:off x="11386437" y="209458"/>
            <a:ext cx="672156"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600"/>
              <a:t>Tho</a:t>
            </a:r>
          </a:p>
        </p:txBody>
      </p:sp>
    </p:spTree>
    <p:extLst>
      <p:ext uri="{BB962C8B-B14F-4D97-AF65-F5344CB8AC3E}">
        <p14:creationId xmlns:p14="http://schemas.microsoft.com/office/powerpoint/2010/main" val="27414845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442CA-DCB3-BD75-2E61-7A86E0A60A98}"/>
              </a:ext>
            </a:extLst>
          </p:cNvPr>
          <p:cNvSpPr>
            <a:spLocks noGrp="1"/>
          </p:cNvSpPr>
          <p:nvPr>
            <p:ph type="title"/>
          </p:nvPr>
        </p:nvSpPr>
        <p:spPr/>
        <p:txBody>
          <a:bodyPr/>
          <a:lstStyle/>
          <a:p>
            <a:r>
              <a:rPr lang="en-SG"/>
              <a:t>What have we learned from DevOps?</a:t>
            </a:r>
          </a:p>
        </p:txBody>
      </p:sp>
      <p:sp>
        <p:nvSpPr>
          <p:cNvPr id="3" name="Content Placeholder 2">
            <a:extLst>
              <a:ext uri="{FF2B5EF4-FFF2-40B4-BE49-F238E27FC236}">
                <a16:creationId xmlns:a16="http://schemas.microsoft.com/office/drawing/2014/main" id="{05435DDC-5B16-ACD5-B7B6-07BE3EB4CDBF}"/>
              </a:ext>
            </a:extLst>
          </p:cNvPr>
          <p:cNvSpPr>
            <a:spLocks noGrp="1"/>
          </p:cNvSpPr>
          <p:nvPr>
            <p:ph idx="1"/>
          </p:nvPr>
        </p:nvSpPr>
        <p:spPr>
          <a:xfrm>
            <a:off x="612647" y="1316736"/>
            <a:ext cx="10653579" cy="4992624"/>
          </a:xfrm>
        </p:spPr>
        <p:txBody>
          <a:bodyPr/>
          <a:lstStyle/>
          <a:p>
            <a:r>
              <a:rPr lang="en-SG"/>
              <a:t>Throughout this project, we gained valuable experience in both software development and DevOps practices.</a:t>
            </a:r>
          </a:p>
          <a:p>
            <a:r>
              <a:rPr lang="en-SG"/>
              <a:t>Technical Skills:</a:t>
            </a:r>
          </a:p>
          <a:p>
            <a:pPr lvl="1"/>
            <a:r>
              <a:rPr lang="en-SG"/>
              <a:t>Git version control and branch management</a:t>
            </a:r>
          </a:p>
          <a:p>
            <a:pPr lvl="1"/>
            <a:r>
              <a:rPr lang="en-SG"/>
              <a:t>Docker containerisation</a:t>
            </a:r>
          </a:p>
          <a:p>
            <a:pPr lvl="1"/>
            <a:r>
              <a:rPr lang="en-SG"/>
              <a:t>Jenkins CI/CD automation </a:t>
            </a:r>
          </a:p>
          <a:p>
            <a:pPr lvl="1"/>
            <a:r>
              <a:rPr lang="en-SG"/>
              <a:t>Ansible deployment automation</a:t>
            </a:r>
          </a:p>
          <a:p>
            <a:pPr lvl="1"/>
            <a:r>
              <a:rPr lang="en-SG"/>
              <a:t>Troubleshooting deployment issues </a:t>
            </a:r>
          </a:p>
          <a:p>
            <a:r>
              <a:rPr lang="en-SG"/>
              <a:t>Soft Skills:</a:t>
            </a:r>
          </a:p>
          <a:p>
            <a:pPr lvl="1"/>
            <a:r>
              <a:rPr lang="en-SG"/>
              <a:t>Team collaboration</a:t>
            </a:r>
          </a:p>
          <a:p>
            <a:pPr lvl="1"/>
            <a:r>
              <a:rPr lang="en-SG"/>
              <a:t>Communication</a:t>
            </a:r>
          </a:p>
          <a:p>
            <a:pPr lvl="1"/>
            <a:r>
              <a:rPr lang="en-SG"/>
              <a:t>Problem-solving  &amp; Planning and task coordination</a:t>
            </a:r>
          </a:p>
        </p:txBody>
      </p:sp>
      <p:sp>
        <p:nvSpPr>
          <p:cNvPr id="5" name="TextBox 4">
            <a:extLst>
              <a:ext uri="{FF2B5EF4-FFF2-40B4-BE49-F238E27FC236}">
                <a16:creationId xmlns:a16="http://schemas.microsoft.com/office/drawing/2014/main" id="{C3E5642D-A56F-F0B8-CAD8-A59C1005E74E}"/>
              </a:ext>
            </a:extLst>
          </p:cNvPr>
          <p:cNvSpPr txBox="1"/>
          <p:nvPr/>
        </p:nvSpPr>
        <p:spPr>
          <a:xfrm>
            <a:off x="11386437" y="209458"/>
            <a:ext cx="672156"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600"/>
              <a:t>Kaj</a:t>
            </a:r>
          </a:p>
        </p:txBody>
      </p:sp>
    </p:spTree>
    <p:extLst>
      <p:ext uri="{BB962C8B-B14F-4D97-AF65-F5344CB8AC3E}">
        <p14:creationId xmlns:p14="http://schemas.microsoft.com/office/powerpoint/2010/main" val="3343119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3AE25E0-D415-D680-8C90-1C3836508D83}"/>
              </a:ext>
            </a:extLst>
          </p:cNvPr>
          <p:cNvPicPr>
            <a:picLocks noChangeAspect="1"/>
          </p:cNvPicPr>
          <p:nvPr/>
        </p:nvPicPr>
        <p:blipFill>
          <a:blip r:embed="rId2"/>
          <a:stretch>
            <a:fillRect/>
          </a:stretch>
        </p:blipFill>
        <p:spPr>
          <a:xfrm>
            <a:off x="952500" y="0"/>
            <a:ext cx="10287000" cy="6858000"/>
          </a:xfrm>
          <a:prstGeom prst="rect">
            <a:avLst/>
          </a:prstGeom>
        </p:spPr>
      </p:pic>
      <p:sp>
        <p:nvSpPr>
          <p:cNvPr id="3" name="TextBox 2">
            <a:extLst>
              <a:ext uri="{FF2B5EF4-FFF2-40B4-BE49-F238E27FC236}">
                <a16:creationId xmlns:a16="http://schemas.microsoft.com/office/drawing/2014/main" id="{67AA3E9B-62ED-10EC-F64B-0EDA35FDEC8D}"/>
              </a:ext>
            </a:extLst>
          </p:cNvPr>
          <p:cNvSpPr txBox="1"/>
          <p:nvPr/>
        </p:nvSpPr>
        <p:spPr>
          <a:xfrm>
            <a:off x="11386437" y="209458"/>
            <a:ext cx="672156"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600"/>
              <a:t>Oli</a:t>
            </a:r>
          </a:p>
        </p:txBody>
      </p:sp>
    </p:spTree>
    <p:extLst>
      <p:ext uri="{BB962C8B-B14F-4D97-AF65-F5344CB8AC3E}">
        <p14:creationId xmlns:p14="http://schemas.microsoft.com/office/powerpoint/2010/main" val="20222404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1E748FC-137C-B204-3BDF-EE3B4C27F1D9}"/>
              </a:ext>
            </a:extLst>
          </p:cNvPr>
          <p:cNvPicPr>
            <a:picLocks noChangeAspect="1"/>
          </p:cNvPicPr>
          <p:nvPr/>
        </p:nvPicPr>
        <p:blipFill>
          <a:blip r:embed="rId2"/>
          <a:stretch>
            <a:fillRect/>
          </a:stretch>
        </p:blipFill>
        <p:spPr>
          <a:xfrm>
            <a:off x="952500" y="0"/>
            <a:ext cx="10287000" cy="6858000"/>
          </a:xfrm>
          <a:prstGeom prst="rect">
            <a:avLst/>
          </a:prstGeom>
        </p:spPr>
      </p:pic>
    </p:spTree>
    <p:extLst>
      <p:ext uri="{BB962C8B-B14F-4D97-AF65-F5344CB8AC3E}">
        <p14:creationId xmlns:p14="http://schemas.microsoft.com/office/powerpoint/2010/main" val="1961500284"/>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566</Words>
  <Application>Microsoft Office PowerPoint</Application>
  <PresentationFormat>Widescreen</PresentationFormat>
  <Paragraphs>102</Paragraphs>
  <Slides>28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Aptos</vt:lpstr>
      <vt:lpstr>Arial</vt:lpstr>
      <vt:lpstr>Neue Haas Grotesk Text Pro</vt:lpstr>
      <vt:lpstr>Wingdings</vt:lpstr>
      <vt:lpstr>VanillaVTI</vt:lpstr>
      <vt:lpstr>C270 DevOps Essentials Project</vt:lpstr>
      <vt:lpstr>Problem Statement</vt:lpstr>
      <vt:lpstr>Visual for the PS</vt:lpstr>
      <vt:lpstr>Project Overview</vt:lpstr>
      <vt:lpstr>PowerPoint Presentation</vt:lpstr>
      <vt:lpstr>PowerPoint Presentation</vt:lpstr>
      <vt:lpstr>Jason Feature (Admin) </vt:lpstr>
      <vt:lpstr>PowerPoint Presentation</vt:lpstr>
      <vt:lpstr>Git Branch Strategy &amp; Team Collaboration</vt:lpstr>
      <vt:lpstr>Team Contribution for Features.</vt:lpstr>
      <vt:lpstr>PowerPoint Presentation</vt:lpstr>
      <vt:lpstr>Docker Containerisation</vt:lpstr>
      <vt:lpstr>PowerPoint Presentation</vt:lpstr>
      <vt:lpstr>Jenkins CI/CD Pipeline</vt:lpstr>
      <vt:lpstr>PowerPoint Presentation</vt:lpstr>
      <vt:lpstr>PowerPoint Presentation</vt:lpstr>
      <vt:lpstr>PowerPoint Presentation</vt:lpstr>
      <vt:lpstr>PowerPoint Presentation</vt:lpstr>
      <vt:lpstr>PowerPoint Presentation</vt:lpstr>
      <vt:lpstr>PowerPoint Presentation</vt:lpstr>
      <vt:lpstr>Evidence that it runs</vt:lpstr>
      <vt:lpstr>PowerPoint Presentation</vt:lpstr>
      <vt:lpstr>PowerPoint Presentation</vt:lpstr>
      <vt:lpstr>PowerPoint Presentation</vt:lpstr>
      <vt:lpstr>Conclusion &amp; Lessons Learned</vt:lpstr>
      <vt:lpstr>What have we learned from DevOps?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JASON TAN WEI HAO</dc:creator>
  <cp:lastModifiedBy>Kaijet Foo</cp:lastModifiedBy>
  <cp:revision>1</cp:revision>
  <dcterms:created xsi:type="dcterms:W3CDTF">2026-07-09T02:14:26Z</dcterms:created>
  <dcterms:modified xsi:type="dcterms:W3CDTF">2026-07-13T09:20:11Z</dcterms:modified>
</cp:coreProperties>
</file>